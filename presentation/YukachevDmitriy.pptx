
<file path=[Content_Types].xml><?xml version="1.0" encoding="utf-8"?>
<Types xmlns="http://schemas.openxmlformats.org/package/2006/content-types">
  <Default Extension="jpg" ContentType="image/jpeg"/>
  <Default Extension="wmf" ContentType="image/x-wmf"/>
  <Default Extension="png" ContentType="image/png"/>
  <Default Extension="xml" ContentType="application/xml"/>
  <Default Extension="jpeg" ContentType="image/jpeg"/>
  <Default Extension="rels" ContentType="application/vnd.openxmlformats-package.relationships+xml"/>
  <Default Extension="bin" ContentType="application/vnd.openxmlformats-officedocument.oleObject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6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trictFirstAndLastChar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12192000" cy="6858000"/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0331C930-ED13-413F-9697-A6BCCBE4ACE2}">
  <a:tblStyle styleId="{0331C930-ED13-413F-9697-A6BCCBE4ACE2}" styleName="Table_0">
    <a:wholeTbl>
      <a:tcTxStyle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rgbClr val="E8EBF5"/>
          </a:solidFill>
        </a:fill>
      </a:tcStyle>
    </a:wholeTbl>
    <a:band1H>
      <a:tcStyle>
        <a:tcBdr/>
        <a:fill>
          <a:solidFill>
            <a:srgbClr val="CDD4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DD4EA"/>
          </a:solidFill>
        </a:fill>
      </a:tcStyle>
    </a:band1V>
    <a:band2V>
      <a:tcStyle>
        <a:tcBdr/>
        <a:fill>
          <a:solidFill>
            <a:srgbClr val="CDD4EA"/>
          </a:solidFill>
        </a:fill>
      </a:tcStyle>
    </a:band2V>
    <a:lastCol>
      <a:tcTxStyle i="off" b="on"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i="off" b="on"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i="off" b="on"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i="off" b="on"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pos="3952" orient="horz"/>
        <p:guide pos="6471"/>
        <p:guide pos="913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Обложка" preserve="0" showMasterPhAnim="0" userDrawn="1">
  <p:cSld name="Обложка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" name="Google Shape;12;p2" descr="A blue circle with white text&#10;&#10;Description automatically generated with low confidence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1013859" y="962173"/>
            <a:ext cx="886499" cy="886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Google Shape;13;p2"/>
          <p:cNvCxnSpPr>
            <a:cxnSpLocks/>
          </p:cNvCxnSpPr>
          <p:nvPr/>
        </p:nvCxnSpPr>
        <p:spPr bwMode="auto">
          <a:xfrm>
            <a:off x="6090212" y="985336"/>
            <a:ext cx="0" cy="840173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" name="Google Shape;14;p2"/>
          <p:cNvCxnSpPr>
            <a:cxnSpLocks/>
          </p:cNvCxnSpPr>
          <p:nvPr/>
        </p:nvCxnSpPr>
        <p:spPr bwMode="auto">
          <a:xfrm>
            <a:off x="8642581" y="985336"/>
            <a:ext cx="0" cy="840173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" name="Google Shape;15;p2"/>
          <p:cNvCxnSpPr>
            <a:cxnSpLocks/>
          </p:cNvCxnSpPr>
          <p:nvPr/>
        </p:nvCxnSpPr>
        <p:spPr bwMode="auto">
          <a:xfrm>
            <a:off x="11179047" y="985336"/>
            <a:ext cx="0" cy="840173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" name="Google Shape;16;p2"/>
          <p:cNvSpPr txBox="1"/>
          <p:nvPr>
            <p:ph type="title"/>
          </p:nvPr>
        </p:nvSpPr>
        <p:spPr bwMode="auto">
          <a:xfrm>
            <a:off x="1027967" y="2404670"/>
            <a:ext cx="7634059" cy="1978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4300"/>
              <a:buFont typeface="Arial"/>
              <a:buNone/>
              <a:defRPr sz="4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" name="Google Shape;17;p2"/>
          <p:cNvSpPr txBox="1"/>
          <p:nvPr>
            <p:ph type="body" idx="1"/>
          </p:nvPr>
        </p:nvSpPr>
        <p:spPr bwMode="auto">
          <a:xfrm>
            <a:off x="2074947" y="1187841"/>
            <a:ext cx="3848717" cy="435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" name="Google Shape;18;p2"/>
          <p:cNvSpPr txBox="1"/>
          <p:nvPr>
            <p:ph type="body" idx="2"/>
          </p:nvPr>
        </p:nvSpPr>
        <p:spPr bwMode="auto">
          <a:xfrm>
            <a:off x="6259420" y="1173829"/>
            <a:ext cx="2278063" cy="463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" name="Google Shape;19;p2"/>
          <p:cNvSpPr txBox="1"/>
          <p:nvPr>
            <p:ph type="body" idx="3"/>
          </p:nvPr>
        </p:nvSpPr>
        <p:spPr bwMode="auto">
          <a:xfrm>
            <a:off x="8786720" y="1173829"/>
            <a:ext cx="2217738" cy="463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" name="Google Shape;20;p2"/>
          <p:cNvSpPr txBox="1"/>
          <p:nvPr>
            <p:ph type="body" idx="4"/>
          </p:nvPr>
        </p:nvSpPr>
        <p:spPr bwMode="auto">
          <a:xfrm>
            <a:off x="1027967" y="4824914"/>
            <a:ext cx="7625267" cy="65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None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Текст_1" preserve="0" showMasterPhAnim="0" userDrawn="1">
  <p:cSld name="Текст_1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" name="Google Shape;22;p3" descr="Icon&#10;&#10;Description automatically generated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" name="Google Shape;23;p3"/>
          <p:cNvCxnSpPr>
            <a:cxnSpLocks/>
          </p:cNvCxnSpPr>
          <p:nvPr/>
        </p:nvCxnSpPr>
        <p:spPr bwMode="auto"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" name="Google Shape;24;p3"/>
          <p:cNvCxnSpPr>
            <a:cxnSpLocks/>
          </p:cNvCxnSpPr>
          <p:nvPr/>
        </p:nvCxnSpPr>
        <p:spPr bwMode="auto"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" name="Google Shape;25;p3"/>
          <p:cNvCxnSpPr>
            <a:cxnSpLocks/>
          </p:cNvCxnSpPr>
          <p:nvPr/>
        </p:nvCxnSpPr>
        <p:spPr bwMode="auto"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" name="Google Shape;26;p3"/>
          <p:cNvSpPr txBox="1"/>
          <p:nvPr/>
        </p:nvSpPr>
        <p:spPr bwMode="auto"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</a:rPr>
              <a:t/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7" name="Google Shape;27;p3"/>
          <p:cNvCxnSpPr>
            <a:cxnSpLocks/>
          </p:cNvCxnSpPr>
          <p:nvPr/>
        </p:nvCxnSpPr>
        <p:spPr bwMode="auto"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" name="Google Shape;28;p3"/>
          <p:cNvSpPr/>
          <p:nvPr>
            <p:ph type="pic" idx="2"/>
          </p:nvPr>
        </p:nvSpPr>
        <p:spPr bwMode="auto"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9" name="Google Shape;29;p3"/>
          <p:cNvSpPr txBox="1"/>
          <p:nvPr>
            <p:ph type="title"/>
          </p:nvPr>
        </p:nvSpPr>
        <p:spPr bwMode="auto">
          <a:xfrm>
            <a:off x="585898" y="1447790"/>
            <a:ext cx="5245560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0" name="Google Shape;30;p3"/>
          <p:cNvSpPr txBox="1"/>
          <p:nvPr>
            <p:ph type="body" idx="1"/>
          </p:nvPr>
        </p:nvSpPr>
        <p:spPr bwMode="auto">
          <a:xfrm>
            <a:off x="585897" y="2379663"/>
            <a:ext cx="5245561" cy="3393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" name="Google Shape;31;p3"/>
          <p:cNvSpPr txBox="1"/>
          <p:nvPr>
            <p:ph type="body" idx="3"/>
          </p:nvPr>
        </p:nvSpPr>
        <p:spPr bwMode="auto"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2" name="Google Shape;32;p3"/>
          <p:cNvSpPr txBox="1"/>
          <p:nvPr>
            <p:ph type="body" idx="4"/>
          </p:nvPr>
        </p:nvSpPr>
        <p:spPr bwMode="auto"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3" name="Google Shape;33;p3"/>
          <p:cNvSpPr txBox="1"/>
          <p:nvPr>
            <p:ph type="body" idx="5"/>
          </p:nvPr>
        </p:nvSpPr>
        <p:spPr bwMode="auto"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чистый" preserve="0" showMasterPhAnim="0" userDrawn="1">
  <p:cSld name="чистый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0A204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6" name="Google Shape;36;p4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5310809" y="2643809"/>
            <a:ext cx="1570383" cy="1570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Текст_2" preserve="0" showMasterPhAnim="0" userDrawn="1">
  <p:cSld name="Текст_2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" name="Google Shape;38;p5" descr="Icon&#10;&#10;Description automatically generated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" name="Google Shape;39;p5"/>
          <p:cNvCxnSpPr>
            <a:cxnSpLocks/>
          </p:cNvCxnSpPr>
          <p:nvPr/>
        </p:nvCxnSpPr>
        <p:spPr bwMode="auto"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" name="Google Shape;40;p5"/>
          <p:cNvCxnSpPr>
            <a:cxnSpLocks/>
          </p:cNvCxnSpPr>
          <p:nvPr/>
        </p:nvCxnSpPr>
        <p:spPr bwMode="auto"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" name="Google Shape;41;p5"/>
          <p:cNvCxnSpPr>
            <a:cxnSpLocks/>
          </p:cNvCxnSpPr>
          <p:nvPr/>
        </p:nvCxnSpPr>
        <p:spPr bwMode="auto"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2" name="Google Shape;42;p5"/>
          <p:cNvSpPr txBox="1"/>
          <p:nvPr/>
        </p:nvSpPr>
        <p:spPr bwMode="auto"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</a:rPr>
              <a:t/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3" name="Google Shape;43;p5"/>
          <p:cNvCxnSpPr>
            <a:cxnSpLocks/>
          </p:cNvCxnSpPr>
          <p:nvPr/>
        </p:nvCxnSpPr>
        <p:spPr bwMode="auto"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4" name="Google Shape;44;p5"/>
          <p:cNvSpPr txBox="1"/>
          <p:nvPr>
            <p:ph type="body" idx="1"/>
          </p:nvPr>
        </p:nvSpPr>
        <p:spPr bwMode="auto"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5" name="Google Shape;45;p5"/>
          <p:cNvSpPr txBox="1"/>
          <p:nvPr>
            <p:ph type="body" idx="2"/>
          </p:nvPr>
        </p:nvSpPr>
        <p:spPr bwMode="auto"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" name="Google Shape;46;p5"/>
          <p:cNvSpPr txBox="1"/>
          <p:nvPr>
            <p:ph type="title"/>
          </p:nvPr>
        </p:nvSpPr>
        <p:spPr bwMode="auto"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" name="Google Shape;47;p5"/>
          <p:cNvSpPr txBox="1"/>
          <p:nvPr>
            <p:ph type="body" idx="3"/>
          </p:nvPr>
        </p:nvSpPr>
        <p:spPr bwMode="auto">
          <a:xfrm>
            <a:off x="585897" y="2379663"/>
            <a:ext cx="11057971" cy="3745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8" name="Google Shape;48;p5"/>
          <p:cNvSpPr txBox="1"/>
          <p:nvPr>
            <p:ph type="body" idx="4"/>
          </p:nvPr>
        </p:nvSpPr>
        <p:spPr bwMode="auto"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Текст_3" preserve="0" showMasterPhAnim="0" userDrawn="1">
  <p:cSld name="Текст_3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" name="Google Shape;50;p6" descr="Icon&#10;&#10;Description automatically generated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" name="Google Shape;51;p6"/>
          <p:cNvCxnSpPr>
            <a:cxnSpLocks/>
          </p:cNvCxnSpPr>
          <p:nvPr/>
        </p:nvCxnSpPr>
        <p:spPr bwMode="auto"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2" name="Google Shape;52;p6"/>
          <p:cNvCxnSpPr>
            <a:cxnSpLocks/>
          </p:cNvCxnSpPr>
          <p:nvPr/>
        </p:nvCxnSpPr>
        <p:spPr bwMode="auto"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3" name="Google Shape;53;p6"/>
          <p:cNvCxnSpPr>
            <a:cxnSpLocks/>
          </p:cNvCxnSpPr>
          <p:nvPr/>
        </p:nvCxnSpPr>
        <p:spPr bwMode="auto"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4" name="Google Shape;54;p6"/>
          <p:cNvSpPr txBox="1"/>
          <p:nvPr/>
        </p:nvSpPr>
        <p:spPr bwMode="auto"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</a:rPr>
              <a:t/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5" name="Google Shape;55;p6"/>
          <p:cNvCxnSpPr>
            <a:cxnSpLocks/>
          </p:cNvCxnSpPr>
          <p:nvPr/>
        </p:nvCxnSpPr>
        <p:spPr bwMode="auto"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6" name="Google Shape;56;p6"/>
          <p:cNvSpPr txBox="1"/>
          <p:nvPr>
            <p:ph type="body" idx="1"/>
          </p:nvPr>
        </p:nvSpPr>
        <p:spPr bwMode="auto"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7" name="Google Shape;57;p6"/>
          <p:cNvSpPr txBox="1"/>
          <p:nvPr>
            <p:ph type="body" idx="2"/>
          </p:nvPr>
        </p:nvSpPr>
        <p:spPr bwMode="auto"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8" name="Google Shape;58;p6"/>
          <p:cNvSpPr txBox="1"/>
          <p:nvPr>
            <p:ph type="body" idx="3"/>
          </p:nvPr>
        </p:nvSpPr>
        <p:spPr bwMode="auto"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9" name="Google Shape;59;p6"/>
          <p:cNvSpPr txBox="1"/>
          <p:nvPr>
            <p:ph type="body" idx="4"/>
          </p:nvPr>
        </p:nvSpPr>
        <p:spPr bwMode="auto"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" name="Google Shape;60;p6"/>
          <p:cNvSpPr txBox="1"/>
          <p:nvPr>
            <p:ph type="body" idx="5"/>
          </p:nvPr>
        </p:nvSpPr>
        <p:spPr bwMode="auto">
          <a:xfrm>
            <a:off x="6259892" y="2379663"/>
            <a:ext cx="5383968" cy="345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rm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3200"/>
              <a:buFont typeface="Arial"/>
              <a:buNone/>
              <a:defRPr sz="32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1" name="Google Shape;61;p6"/>
          <p:cNvSpPr txBox="1"/>
          <p:nvPr>
            <p:ph type="body" idx="6"/>
          </p:nvPr>
        </p:nvSpPr>
        <p:spPr bwMode="auto"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2" name="Google Shape;62;p6"/>
          <p:cNvSpPr txBox="1"/>
          <p:nvPr>
            <p:ph type="title"/>
          </p:nvPr>
        </p:nvSpPr>
        <p:spPr bwMode="auto"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График_1" preserve="0" showMasterPhAnim="0" userDrawn="1">
  <p:cSld name="График_1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" name="Google Shape;64;p7" descr="Icon&#10;&#10;Description automatically generated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" name="Google Shape;65;p7"/>
          <p:cNvCxnSpPr>
            <a:cxnSpLocks/>
          </p:cNvCxnSpPr>
          <p:nvPr/>
        </p:nvCxnSpPr>
        <p:spPr bwMode="auto"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6" name="Google Shape;66;p7"/>
          <p:cNvCxnSpPr>
            <a:cxnSpLocks/>
          </p:cNvCxnSpPr>
          <p:nvPr/>
        </p:nvCxnSpPr>
        <p:spPr bwMode="auto"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7" name="Google Shape;67;p7"/>
          <p:cNvCxnSpPr>
            <a:cxnSpLocks/>
          </p:cNvCxnSpPr>
          <p:nvPr/>
        </p:nvCxnSpPr>
        <p:spPr bwMode="auto"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8" name="Google Shape;68;p7"/>
          <p:cNvSpPr txBox="1"/>
          <p:nvPr/>
        </p:nvSpPr>
        <p:spPr bwMode="auto"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</a:rPr>
              <a:t/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9" name="Google Shape;69;p7"/>
          <p:cNvCxnSpPr>
            <a:cxnSpLocks/>
          </p:cNvCxnSpPr>
          <p:nvPr/>
        </p:nvCxnSpPr>
        <p:spPr bwMode="auto"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0" name="Google Shape;70;p7"/>
          <p:cNvSpPr txBox="1"/>
          <p:nvPr>
            <p:ph type="body" idx="1"/>
          </p:nvPr>
        </p:nvSpPr>
        <p:spPr bwMode="auto"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" name="Google Shape;71;p7"/>
          <p:cNvSpPr txBox="1"/>
          <p:nvPr>
            <p:ph type="body" idx="2"/>
          </p:nvPr>
        </p:nvSpPr>
        <p:spPr bwMode="auto"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2" name="Google Shape;72;p7"/>
          <p:cNvSpPr txBox="1"/>
          <p:nvPr>
            <p:ph type="body" idx="3"/>
          </p:nvPr>
        </p:nvSpPr>
        <p:spPr bwMode="auto"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3" name="Google Shape;73;p7"/>
          <p:cNvSpPr txBox="1"/>
          <p:nvPr>
            <p:ph type="title"/>
          </p:nvPr>
        </p:nvSpPr>
        <p:spPr bwMode="auto">
          <a:xfrm>
            <a:off x="585899" y="1447790"/>
            <a:ext cx="4322530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" name="Google Shape;74;p7"/>
          <p:cNvSpPr txBox="1"/>
          <p:nvPr>
            <p:ph type="body" idx="4"/>
          </p:nvPr>
        </p:nvSpPr>
        <p:spPr bwMode="auto"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5" name="Google Shape;75;p7"/>
          <p:cNvSpPr txBox="1"/>
          <p:nvPr>
            <p:ph type="body" idx="5"/>
          </p:nvPr>
        </p:nvSpPr>
        <p:spPr bwMode="auto"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" name="Google Shape;76;p7"/>
          <p:cNvSpPr/>
          <p:nvPr>
            <p:ph type="chart" idx="6"/>
          </p:nvPr>
        </p:nvSpPr>
        <p:spPr bwMode="auto">
          <a:xfrm>
            <a:off x="5272097" y="1447790"/>
            <a:ext cx="6371768" cy="4289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График_2" preserve="0" showMasterPhAnim="0" userDrawn="1">
  <p:cSld name="График_2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" name="Google Shape;78;p8" descr="Icon&#10;&#10;Description automatically generated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" name="Google Shape;79;p8"/>
          <p:cNvCxnSpPr>
            <a:cxnSpLocks/>
          </p:cNvCxnSpPr>
          <p:nvPr/>
        </p:nvCxnSpPr>
        <p:spPr bwMode="auto"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0" name="Google Shape;80;p8"/>
          <p:cNvCxnSpPr>
            <a:cxnSpLocks/>
          </p:cNvCxnSpPr>
          <p:nvPr/>
        </p:nvCxnSpPr>
        <p:spPr bwMode="auto"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1" name="Google Shape;81;p8"/>
          <p:cNvCxnSpPr>
            <a:cxnSpLocks/>
          </p:cNvCxnSpPr>
          <p:nvPr/>
        </p:nvCxnSpPr>
        <p:spPr bwMode="auto"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2" name="Google Shape;82;p8"/>
          <p:cNvSpPr txBox="1"/>
          <p:nvPr/>
        </p:nvSpPr>
        <p:spPr bwMode="auto"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</a:rPr>
              <a:t/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3" name="Google Shape;83;p8"/>
          <p:cNvCxnSpPr>
            <a:cxnSpLocks/>
          </p:cNvCxnSpPr>
          <p:nvPr/>
        </p:nvCxnSpPr>
        <p:spPr bwMode="auto"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4" name="Google Shape;84;p8"/>
          <p:cNvSpPr txBox="1"/>
          <p:nvPr>
            <p:ph type="body" idx="1"/>
          </p:nvPr>
        </p:nvSpPr>
        <p:spPr bwMode="auto"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5" name="Google Shape;85;p8"/>
          <p:cNvSpPr txBox="1"/>
          <p:nvPr>
            <p:ph type="body" idx="2"/>
          </p:nvPr>
        </p:nvSpPr>
        <p:spPr bwMode="auto"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6" name="Google Shape;86;p8"/>
          <p:cNvSpPr txBox="1"/>
          <p:nvPr>
            <p:ph type="body" idx="3"/>
          </p:nvPr>
        </p:nvSpPr>
        <p:spPr bwMode="auto"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7" name="Google Shape;87;p8"/>
          <p:cNvSpPr txBox="1"/>
          <p:nvPr>
            <p:ph type="body" idx="4"/>
          </p:nvPr>
        </p:nvSpPr>
        <p:spPr bwMode="auto"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8" name="Google Shape;88;p8"/>
          <p:cNvSpPr/>
          <p:nvPr>
            <p:ph type="chart" idx="5"/>
          </p:nvPr>
        </p:nvSpPr>
        <p:spPr bwMode="auto">
          <a:xfrm>
            <a:off x="5272097" y="1447790"/>
            <a:ext cx="6371768" cy="4289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9" name="Google Shape;89;p8"/>
          <p:cNvSpPr txBox="1"/>
          <p:nvPr>
            <p:ph type="body" idx="6"/>
          </p:nvPr>
        </p:nvSpPr>
        <p:spPr bwMode="auto">
          <a:xfrm>
            <a:off x="585788" y="1447064"/>
            <a:ext cx="4322762" cy="703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0" name="Google Shape;90;p8"/>
          <p:cNvSpPr txBox="1"/>
          <p:nvPr>
            <p:ph type="body" idx="7"/>
          </p:nvPr>
        </p:nvSpPr>
        <p:spPr bwMode="auto"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Цифры" preserve="0" showMasterPhAnim="0" userDrawn="1">
  <p:cSld name="Цифры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" name="Google Shape;92;p9" descr="Icon&#10;&#10;Description automatically generated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" name="Google Shape;93;p9"/>
          <p:cNvCxnSpPr>
            <a:cxnSpLocks/>
          </p:cNvCxnSpPr>
          <p:nvPr/>
        </p:nvCxnSpPr>
        <p:spPr bwMode="auto"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4" name="Google Shape;94;p9"/>
          <p:cNvCxnSpPr>
            <a:cxnSpLocks/>
          </p:cNvCxnSpPr>
          <p:nvPr/>
        </p:nvCxnSpPr>
        <p:spPr bwMode="auto"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5" name="Google Shape;95;p9"/>
          <p:cNvCxnSpPr>
            <a:cxnSpLocks/>
          </p:cNvCxnSpPr>
          <p:nvPr/>
        </p:nvCxnSpPr>
        <p:spPr bwMode="auto"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9"/>
          <p:cNvSpPr txBox="1"/>
          <p:nvPr/>
        </p:nvSpPr>
        <p:spPr bwMode="auto"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</a:rPr>
              <a:t/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7" name="Google Shape;97;p9"/>
          <p:cNvCxnSpPr>
            <a:cxnSpLocks/>
          </p:cNvCxnSpPr>
          <p:nvPr/>
        </p:nvCxnSpPr>
        <p:spPr bwMode="auto"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9"/>
          <p:cNvSpPr txBox="1"/>
          <p:nvPr>
            <p:ph type="body" idx="1"/>
          </p:nvPr>
        </p:nvSpPr>
        <p:spPr bwMode="auto"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9" name="Google Shape;99;p9"/>
          <p:cNvSpPr txBox="1"/>
          <p:nvPr>
            <p:ph type="body" idx="2"/>
          </p:nvPr>
        </p:nvSpPr>
        <p:spPr bwMode="auto"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0" name="Google Shape;100;p9"/>
          <p:cNvSpPr txBox="1"/>
          <p:nvPr>
            <p:ph type="body" idx="3"/>
          </p:nvPr>
        </p:nvSpPr>
        <p:spPr bwMode="auto"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1" name="Google Shape;101;p9"/>
          <p:cNvSpPr txBox="1"/>
          <p:nvPr>
            <p:ph type="title"/>
          </p:nvPr>
        </p:nvSpPr>
        <p:spPr bwMode="auto"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2" name="Google Shape;102;p9"/>
          <p:cNvSpPr txBox="1"/>
          <p:nvPr>
            <p:ph type="body" idx="4"/>
          </p:nvPr>
        </p:nvSpPr>
        <p:spPr bwMode="auto">
          <a:xfrm>
            <a:off x="575076" y="4103994"/>
            <a:ext cx="2758143" cy="156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3" name="Google Shape;103;p9"/>
          <p:cNvSpPr txBox="1"/>
          <p:nvPr>
            <p:ph type="body" idx="5"/>
          </p:nvPr>
        </p:nvSpPr>
        <p:spPr bwMode="auto">
          <a:xfrm>
            <a:off x="4047007" y="4103994"/>
            <a:ext cx="2757612" cy="156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4" name="Google Shape;104;p9"/>
          <p:cNvSpPr txBox="1"/>
          <p:nvPr>
            <p:ph type="body" idx="6"/>
          </p:nvPr>
        </p:nvSpPr>
        <p:spPr bwMode="auto">
          <a:xfrm>
            <a:off x="7518938" y="4103994"/>
            <a:ext cx="2757612" cy="156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5" name="Google Shape;105;p9"/>
          <p:cNvSpPr txBox="1"/>
          <p:nvPr>
            <p:ph type="body" idx="7"/>
          </p:nvPr>
        </p:nvSpPr>
        <p:spPr bwMode="auto">
          <a:xfrm>
            <a:off x="575076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latin typeface="Arial"/>
                <a:ea typeface="Arial"/>
                <a:cs typeface="Arial"/>
              </a:defRPr>
            </a:lvl1pPr>
            <a:lvl2pPr marL="914400" lvl="1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</a:defRPr>
            </a:lvl2pPr>
            <a:lvl3pPr marL="1371600" lvl="2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</a:defRPr>
            </a:lvl3pPr>
            <a:lvl4pPr marL="1828800" lvl="3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</a:defRPr>
            </a:lvl4pPr>
            <a:lvl5pPr marL="2286000" lvl="4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6" name="Google Shape;106;p9"/>
          <p:cNvSpPr txBox="1"/>
          <p:nvPr>
            <p:ph type="body" idx="8"/>
          </p:nvPr>
        </p:nvSpPr>
        <p:spPr bwMode="auto">
          <a:xfrm>
            <a:off x="4047007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latin typeface="Arial"/>
                <a:ea typeface="Arial"/>
                <a:cs typeface="Arial"/>
              </a:defRPr>
            </a:lvl1pPr>
            <a:lvl2pPr marL="914400" lvl="1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</a:defRPr>
            </a:lvl2pPr>
            <a:lvl3pPr marL="1371600" lvl="2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</a:defRPr>
            </a:lvl3pPr>
            <a:lvl4pPr marL="1828800" lvl="3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</a:defRPr>
            </a:lvl4pPr>
            <a:lvl5pPr marL="2286000" lvl="4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7" name="Google Shape;107;p9"/>
          <p:cNvSpPr txBox="1"/>
          <p:nvPr>
            <p:ph type="body" idx="9"/>
          </p:nvPr>
        </p:nvSpPr>
        <p:spPr bwMode="auto">
          <a:xfrm>
            <a:off x="7518938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latin typeface="Arial"/>
                <a:ea typeface="Arial"/>
                <a:cs typeface="Arial"/>
              </a:defRPr>
            </a:lvl1pPr>
            <a:lvl2pPr marL="914400" lvl="1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</a:defRPr>
            </a:lvl2pPr>
            <a:lvl3pPr marL="1371600" lvl="2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</a:defRPr>
            </a:lvl3pPr>
            <a:lvl4pPr marL="1828800" lvl="3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</a:defRPr>
            </a:lvl4pPr>
            <a:lvl5pPr marL="2286000" lvl="4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Таблица_1" preserve="0" showMasterPhAnim="0" userDrawn="1">
  <p:cSld name="Таблица_1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" name="Google Shape;109;p10" descr="Icon&#10;&#10;Description automatically generated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10"/>
          <p:cNvCxnSpPr>
            <a:cxnSpLocks/>
          </p:cNvCxnSpPr>
          <p:nvPr/>
        </p:nvCxnSpPr>
        <p:spPr bwMode="auto"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1" name="Google Shape;111;p10"/>
          <p:cNvCxnSpPr>
            <a:cxnSpLocks/>
          </p:cNvCxnSpPr>
          <p:nvPr/>
        </p:nvCxnSpPr>
        <p:spPr bwMode="auto"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2" name="Google Shape;112;p10"/>
          <p:cNvCxnSpPr>
            <a:cxnSpLocks/>
          </p:cNvCxnSpPr>
          <p:nvPr/>
        </p:nvCxnSpPr>
        <p:spPr bwMode="auto"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3" name="Google Shape;113;p10"/>
          <p:cNvSpPr txBox="1"/>
          <p:nvPr/>
        </p:nvSpPr>
        <p:spPr bwMode="auto"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</a:rPr>
              <a:t/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14" name="Google Shape;114;p10"/>
          <p:cNvCxnSpPr>
            <a:cxnSpLocks/>
          </p:cNvCxnSpPr>
          <p:nvPr/>
        </p:nvCxnSpPr>
        <p:spPr bwMode="auto"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5" name="Google Shape;115;p10"/>
          <p:cNvSpPr txBox="1"/>
          <p:nvPr>
            <p:ph type="body" idx="1"/>
          </p:nvPr>
        </p:nvSpPr>
        <p:spPr bwMode="auto"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6" name="Google Shape;116;p10"/>
          <p:cNvSpPr txBox="1"/>
          <p:nvPr>
            <p:ph type="body" idx="2"/>
          </p:nvPr>
        </p:nvSpPr>
        <p:spPr bwMode="auto"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7" name="Google Shape;117;p10"/>
          <p:cNvSpPr txBox="1"/>
          <p:nvPr>
            <p:ph type="body" idx="3"/>
          </p:nvPr>
        </p:nvSpPr>
        <p:spPr bwMode="auto"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8" name="Google Shape;118;p10"/>
          <p:cNvSpPr txBox="1"/>
          <p:nvPr>
            <p:ph type="body" idx="4"/>
          </p:nvPr>
        </p:nvSpPr>
        <p:spPr bwMode="auto">
          <a:xfrm>
            <a:off x="585787" y="1447065"/>
            <a:ext cx="11058065" cy="307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9" name="Google Shape;119;p10"/>
          <p:cNvSpPr txBox="1"/>
          <p:nvPr>
            <p:ph type="body" idx="5"/>
          </p:nvPr>
        </p:nvSpPr>
        <p:spPr bwMode="auto">
          <a:xfrm>
            <a:off x="585788" y="5739189"/>
            <a:ext cx="6824303" cy="703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Таблица_2" preserve="0" showMasterPhAnim="0" userDrawn="1">
  <p:cSld name="Таблица_2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" name="Google Shape;121;p11" descr="Icon&#10;&#10;Description automatically generated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" name="Google Shape;122;p11"/>
          <p:cNvCxnSpPr>
            <a:cxnSpLocks/>
          </p:cNvCxnSpPr>
          <p:nvPr/>
        </p:nvCxnSpPr>
        <p:spPr bwMode="auto"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3" name="Google Shape;123;p11"/>
          <p:cNvCxnSpPr>
            <a:cxnSpLocks/>
          </p:cNvCxnSpPr>
          <p:nvPr/>
        </p:nvCxnSpPr>
        <p:spPr bwMode="auto"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4" name="Google Shape;124;p11"/>
          <p:cNvCxnSpPr>
            <a:cxnSpLocks/>
          </p:cNvCxnSpPr>
          <p:nvPr/>
        </p:nvCxnSpPr>
        <p:spPr bwMode="auto"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5" name="Google Shape;125;p11"/>
          <p:cNvSpPr txBox="1"/>
          <p:nvPr/>
        </p:nvSpPr>
        <p:spPr bwMode="auto"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</a:rPr>
              <a:t/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26" name="Google Shape;126;p11"/>
          <p:cNvCxnSpPr>
            <a:cxnSpLocks/>
          </p:cNvCxnSpPr>
          <p:nvPr/>
        </p:nvCxnSpPr>
        <p:spPr bwMode="auto"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7" name="Google Shape;127;p11"/>
          <p:cNvSpPr txBox="1"/>
          <p:nvPr>
            <p:ph type="body" idx="1"/>
          </p:nvPr>
        </p:nvSpPr>
        <p:spPr bwMode="auto"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8" name="Google Shape;128;p11"/>
          <p:cNvSpPr txBox="1"/>
          <p:nvPr>
            <p:ph type="body" idx="2"/>
          </p:nvPr>
        </p:nvSpPr>
        <p:spPr bwMode="auto"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9" name="Google Shape;129;p11"/>
          <p:cNvSpPr txBox="1"/>
          <p:nvPr>
            <p:ph type="body" idx="3"/>
          </p:nvPr>
        </p:nvSpPr>
        <p:spPr bwMode="auto"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0" name="Google Shape;130;p11"/>
          <p:cNvSpPr txBox="1"/>
          <p:nvPr>
            <p:ph type="body" idx="4"/>
          </p:nvPr>
        </p:nvSpPr>
        <p:spPr bwMode="auto">
          <a:xfrm>
            <a:off x="585787" y="1447064"/>
            <a:ext cx="7617877" cy="537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1" name="Google Shape;131;p11"/>
          <p:cNvSpPr txBox="1"/>
          <p:nvPr>
            <p:ph type="body" idx="5"/>
          </p:nvPr>
        </p:nvSpPr>
        <p:spPr bwMode="auto">
          <a:xfrm>
            <a:off x="585788" y="5739189"/>
            <a:ext cx="6824303" cy="703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2" name="Google Shape;132;p11"/>
          <p:cNvSpPr txBox="1"/>
          <p:nvPr>
            <p:ph type="body" idx="6"/>
          </p:nvPr>
        </p:nvSpPr>
        <p:spPr bwMode="auto">
          <a:xfrm>
            <a:off x="8686807" y="2208363"/>
            <a:ext cx="2930666" cy="2570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цвет" preserve="0" showMasterPhAnim="0" userDrawn="1">
  <p:cSld name="цвет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" name="Google Shape;134;p12" descr="Icon&#10;&#10;Description automatically generated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12"/>
          <p:cNvCxnSpPr>
            <a:cxnSpLocks/>
          </p:cNvCxnSpPr>
          <p:nvPr/>
        </p:nvCxnSpPr>
        <p:spPr bwMode="auto"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6" name="Google Shape;136;p12"/>
          <p:cNvCxnSpPr>
            <a:cxnSpLocks/>
          </p:cNvCxnSpPr>
          <p:nvPr/>
        </p:nvCxnSpPr>
        <p:spPr bwMode="auto"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7" name="Google Shape;137;p12"/>
          <p:cNvCxnSpPr>
            <a:cxnSpLocks/>
          </p:cNvCxnSpPr>
          <p:nvPr/>
        </p:nvCxnSpPr>
        <p:spPr bwMode="auto"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8" name="Google Shape;138;p12"/>
          <p:cNvSpPr txBox="1"/>
          <p:nvPr/>
        </p:nvSpPr>
        <p:spPr bwMode="auto"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</a:rPr>
              <a:t/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39" name="Google Shape;139;p12"/>
          <p:cNvCxnSpPr>
            <a:cxnSpLocks/>
          </p:cNvCxnSpPr>
          <p:nvPr/>
        </p:nvCxnSpPr>
        <p:spPr bwMode="auto"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0" name="Google Shape;140;p12"/>
          <p:cNvSpPr txBox="1"/>
          <p:nvPr>
            <p:ph type="body" idx="1"/>
          </p:nvPr>
        </p:nvSpPr>
        <p:spPr bwMode="auto"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1" name="Google Shape;141;p12"/>
          <p:cNvSpPr txBox="1"/>
          <p:nvPr>
            <p:ph type="body" idx="2"/>
          </p:nvPr>
        </p:nvSpPr>
        <p:spPr bwMode="auto"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2" name="Google Shape;142;p12"/>
          <p:cNvSpPr txBox="1"/>
          <p:nvPr>
            <p:ph type="body" idx="3"/>
          </p:nvPr>
        </p:nvSpPr>
        <p:spPr bwMode="auto"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3" name="Google Shape;143;p12"/>
          <p:cNvSpPr txBox="1"/>
          <p:nvPr>
            <p:ph type="title"/>
          </p:nvPr>
        </p:nvSpPr>
        <p:spPr bwMode="auto">
          <a:xfrm>
            <a:off x="585899" y="1447790"/>
            <a:ext cx="4322530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4" name="Google Shape;144;p12"/>
          <p:cNvSpPr txBox="1"/>
          <p:nvPr>
            <p:ph type="body" idx="4"/>
          </p:nvPr>
        </p:nvSpPr>
        <p:spPr bwMode="auto"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5" name="Google Shape;145;p12"/>
          <p:cNvSpPr/>
          <p:nvPr/>
        </p:nvSpPr>
        <p:spPr bwMode="auto"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6" name="Google Shape;146;p12"/>
          <p:cNvSpPr/>
          <p:nvPr/>
        </p:nvSpPr>
        <p:spPr bwMode="auto"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7" name="Google Shape;147;p12"/>
          <p:cNvSpPr/>
          <p:nvPr/>
        </p:nvSpPr>
        <p:spPr bwMode="auto"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8" name="Google Shape;148;p12"/>
          <p:cNvSpPr/>
          <p:nvPr/>
        </p:nvSpPr>
        <p:spPr bwMode="auto"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9" name="Google Shape;149;p12"/>
          <p:cNvSpPr/>
          <p:nvPr/>
        </p:nvSpPr>
        <p:spPr bwMode="auto"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0" name="Google Shape;150;p12"/>
          <p:cNvSpPr/>
          <p:nvPr/>
        </p:nvSpPr>
        <p:spPr bwMode="auto"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1" name="Google Shape;151;p12"/>
          <p:cNvSpPr/>
          <p:nvPr/>
        </p:nvSpPr>
        <p:spPr bwMode="auto"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2" name="Google Shape;152;p12"/>
          <p:cNvSpPr/>
          <p:nvPr/>
        </p:nvSpPr>
        <p:spPr bwMode="auto"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3" name="Google Shape;153;p12"/>
          <p:cNvSpPr/>
          <p:nvPr/>
        </p:nvSpPr>
        <p:spPr bwMode="auto"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4" name="Google Shape;154;p12"/>
          <p:cNvSpPr/>
          <p:nvPr/>
        </p:nvSpPr>
        <p:spPr bwMode="auto"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5" name="Google Shape;155;p12"/>
          <p:cNvSpPr/>
          <p:nvPr/>
        </p:nvSpPr>
        <p:spPr bwMode="auto">
          <a:xfrm>
            <a:off x="5392982" y="3969608"/>
            <a:ext cx="830997" cy="830997"/>
          </a:xfrm>
          <a:prstGeom prst="ellipse">
            <a:avLst/>
          </a:prstGeom>
          <a:solidFill>
            <a:srgbClr val="EB8C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6" name="Google Shape;156;p12"/>
          <p:cNvSpPr/>
          <p:nvPr/>
        </p:nvSpPr>
        <p:spPr bwMode="auto">
          <a:xfrm>
            <a:off x="6742925" y="3969608"/>
            <a:ext cx="830997" cy="830997"/>
          </a:xfrm>
          <a:prstGeom prst="ellipse">
            <a:avLst/>
          </a:prstGeom>
          <a:solidFill>
            <a:srgbClr val="9662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7" name="Google Shape;157;p12"/>
          <p:cNvSpPr/>
          <p:nvPr/>
        </p:nvSpPr>
        <p:spPr bwMode="auto">
          <a:xfrm>
            <a:off x="8092868" y="3969608"/>
            <a:ext cx="830997" cy="830997"/>
          </a:xfrm>
          <a:prstGeom prst="ellipse">
            <a:avLst/>
          </a:prstGeom>
          <a:solidFill>
            <a:srgbClr val="CD5A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8" name="Google Shape;158;p12"/>
          <p:cNvSpPr/>
          <p:nvPr/>
        </p:nvSpPr>
        <p:spPr bwMode="auto">
          <a:xfrm>
            <a:off x="9442811" y="3969608"/>
            <a:ext cx="830997" cy="830997"/>
          </a:xfrm>
          <a:prstGeom prst="ellipse">
            <a:avLst/>
          </a:prstGeom>
          <a:solidFill>
            <a:srgbClr val="FFD7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9" name="Google Shape;159;p12"/>
          <p:cNvSpPr/>
          <p:nvPr/>
        </p:nvSpPr>
        <p:spPr bwMode="auto">
          <a:xfrm>
            <a:off x="10792754" y="3969608"/>
            <a:ext cx="830997" cy="830997"/>
          </a:xfrm>
          <a:prstGeom prst="ellipse">
            <a:avLst/>
          </a:prstGeom>
          <a:solidFill>
            <a:srgbClr val="CDDD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0" name="Google Shape;160;p12"/>
          <p:cNvSpPr/>
          <p:nvPr/>
        </p:nvSpPr>
        <p:spPr bwMode="auto"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1" name="Google Shape;161;p12"/>
          <p:cNvSpPr/>
          <p:nvPr/>
        </p:nvSpPr>
        <p:spPr bwMode="auto"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2" name="Google Shape;162;p12"/>
          <p:cNvSpPr/>
          <p:nvPr/>
        </p:nvSpPr>
        <p:spPr bwMode="auto"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3" name="Google Shape;163;p12"/>
          <p:cNvSpPr/>
          <p:nvPr/>
        </p:nvSpPr>
        <p:spPr bwMode="auto"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4" name="Google Shape;164;p12"/>
          <p:cNvSpPr/>
          <p:nvPr/>
        </p:nvSpPr>
        <p:spPr bwMode="auto"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чистый_2" preserve="0" showMasterPhAnim="0" userDrawn="1">
  <p:cSld name="чистый_2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" name="Google Shape;166;p13" descr="Icon&#10;&#10;Description automatically generated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p13"/>
          <p:cNvCxnSpPr>
            <a:cxnSpLocks/>
          </p:cNvCxnSpPr>
          <p:nvPr/>
        </p:nvCxnSpPr>
        <p:spPr bwMode="auto"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8" name="Google Shape;168;p13"/>
          <p:cNvCxnSpPr>
            <a:cxnSpLocks/>
          </p:cNvCxnSpPr>
          <p:nvPr/>
        </p:nvCxnSpPr>
        <p:spPr bwMode="auto"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9" name="Google Shape;169;p13"/>
          <p:cNvCxnSpPr>
            <a:cxnSpLocks/>
          </p:cNvCxnSpPr>
          <p:nvPr/>
        </p:nvCxnSpPr>
        <p:spPr bwMode="auto"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13"/>
          <p:cNvSpPr txBox="1"/>
          <p:nvPr/>
        </p:nvSpPr>
        <p:spPr bwMode="auto"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</a:rPr>
              <a:t/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71" name="Google Shape;171;p13"/>
          <p:cNvCxnSpPr>
            <a:cxnSpLocks/>
          </p:cNvCxnSpPr>
          <p:nvPr/>
        </p:nvCxnSpPr>
        <p:spPr bwMode="auto"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2" name="Google Shape;172;p13"/>
          <p:cNvSpPr txBox="1"/>
          <p:nvPr>
            <p:ph type="body" idx="1"/>
          </p:nvPr>
        </p:nvSpPr>
        <p:spPr bwMode="auto"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3" name="Google Shape;173;p13"/>
          <p:cNvSpPr txBox="1"/>
          <p:nvPr>
            <p:ph type="body" idx="2"/>
          </p:nvPr>
        </p:nvSpPr>
        <p:spPr bwMode="auto"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4" name="Google Shape;174;p13"/>
          <p:cNvSpPr txBox="1"/>
          <p:nvPr>
            <p:ph type="body" idx="3"/>
          </p:nvPr>
        </p:nvSpPr>
        <p:spPr bwMode="auto"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7;p1"/>
          <p:cNvSpPr txBox="1"/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8;p1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" name="Google Shape;9;p1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" name="Google Shape;10;p1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/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" name="Google Shape;179;p14"/>
          <p:cNvSpPr txBox="1"/>
          <p:nvPr>
            <p:ph type="title"/>
          </p:nvPr>
        </p:nvSpPr>
        <p:spPr bwMode="auto">
          <a:xfrm>
            <a:off x="1027966" y="2004186"/>
            <a:ext cx="7634059" cy="1978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rmAutofit fontScale="90000" lnSpcReduction="2000"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ct val="100000"/>
              <a:buFont typeface="Arial"/>
              <a:buNone/>
              <a:defRPr/>
            </a:pPr>
            <a:r>
              <a:rPr lang="ru-RU" sz="3600"/>
              <a:t>Улучшенная нижняя оценка для константы Чватала-Санкоффа методом динамического программирования с окнами</a:t>
            </a:r>
            <a:endParaRPr sz="3600"/>
          </a:p>
        </p:txBody>
      </p:sp>
      <p:sp>
        <p:nvSpPr>
          <p:cNvPr id="180" name="Google Shape;180;p14"/>
          <p:cNvSpPr txBox="1"/>
          <p:nvPr>
            <p:ph type="body" idx="1"/>
          </p:nvPr>
        </p:nvSpPr>
        <p:spPr bwMode="auto">
          <a:xfrm>
            <a:off x="2074947" y="1187841"/>
            <a:ext cx="3848717" cy="435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Школа информатики,</a:t>
            </a:r>
            <a:endParaRPr sz="16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физики и технологий</a:t>
            </a:r>
            <a:endParaRPr sz="16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pPr>
            <a:endParaRPr/>
          </a:p>
        </p:txBody>
      </p:sp>
      <p:sp>
        <p:nvSpPr>
          <p:cNvPr id="181" name="Google Shape;181;p14"/>
          <p:cNvSpPr txBox="1"/>
          <p:nvPr>
            <p:ph type="body" idx="2"/>
          </p:nvPr>
        </p:nvSpPr>
        <p:spPr bwMode="auto">
          <a:xfrm>
            <a:off x="6259420" y="1173829"/>
            <a:ext cx="2278063" cy="463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None/>
              <a:defRPr/>
            </a:pPr>
            <a:r>
              <a:rPr lang="ru-RU" sz="12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</a:rPr>
              <a:t>Прикладная математика и информатика</a:t>
            </a:r>
            <a:endParaRPr/>
          </a:p>
        </p:txBody>
      </p:sp>
      <p:sp>
        <p:nvSpPr>
          <p:cNvPr id="182" name="Google Shape;182;p14"/>
          <p:cNvSpPr txBox="1"/>
          <p:nvPr>
            <p:ph type="body" idx="3"/>
          </p:nvPr>
        </p:nvSpPr>
        <p:spPr bwMode="auto">
          <a:xfrm>
            <a:off x="8786720" y="1173829"/>
            <a:ext cx="2217738" cy="463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None/>
              <a:defRPr/>
            </a:pPr>
            <a:r>
              <a:rPr lang="ru-RU" sz="12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</a:rPr>
              <a:t>Санкт-Петербург, 2026</a:t>
            </a:r>
            <a:endParaRPr sz="12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None/>
              <a:defRPr/>
            </a:pPr>
            <a:endParaRPr/>
          </a:p>
        </p:txBody>
      </p:sp>
      <p:sp>
        <p:nvSpPr>
          <p:cNvPr id="183" name="Google Shape;183;p14"/>
          <p:cNvSpPr txBox="1"/>
          <p:nvPr>
            <p:ph type="body" idx="4"/>
          </p:nvPr>
        </p:nvSpPr>
        <p:spPr bwMode="auto">
          <a:xfrm flipH="0" flipV="0">
            <a:off x="1027966" y="4643437"/>
            <a:ext cx="7892004" cy="1136505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36000" tIns="36000" rIns="36000" bIns="36000" numCol="1" spcCol="0" rtlCol="0" fromWordArt="0" anchor="t" anchorCtr="0" forceAA="0" upright="0" compatLnSpc="0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/>
            </a:pPr>
            <a:r>
              <a:rPr lang="ru-RU" sz="16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</a:rPr>
              <a:t>Юкачев Дмитрий Евгеньевич, </a:t>
            </a:r>
            <a:r>
              <a:rPr lang="ru-RU" sz="1600" b="0" i="0" u="none" strike="noStrike" cap="none" spc="0">
                <a:solidFill>
                  <a:srgbClr val="0E2D69"/>
                </a:solidFill>
                <a:latin typeface="Arial"/>
                <a:ea typeface="Arial"/>
                <a:cs typeface="Arial"/>
              </a:rPr>
              <a:t>БПМ222С, 4 курс</a:t>
            </a:r>
            <a:endParaRPr sz="1600" b="0" i="0" u="none" strike="noStrike" cap="none" spc="0">
              <a:solidFill>
                <a:srgbClr val="0E2D69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/>
            </a:pPr>
            <a:r>
              <a:rPr lang="ru-RU" sz="1600" b="0" i="0" u="none" strike="noStrike" cap="none" spc="0">
                <a:solidFill>
                  <a:srgbClr val="0E2D69"/>
                </a:solidFill>
                <a:latin typeface="Arial"/>
                <a:ea typeface="Arial"/>
                <a:cs typeface="Arial"/>
              </a:rPr>
              <a:t>Научный руководитель: С. В. Копелиович, ст. преп. </a:t>
            </a:r>
            <a:endParaRPr sz="1600" b="0" i="0" u="none" strike="noStrike" cap="none" spc="0">
              <a:solidFill>
                <a:srgbClr val="0E2D69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/>
            </a:pPr>
            <a:r>
              <a:rPr lang="ru-RU" sz="1600" b="0" i="0" u="none" strike="noStrike" cap="none" spc="0">
                <a:solidFill>
                  <a:srgbClr val="0E2D69"/>
                </a:solidFill>
                <a:latin typeface="Arial"/>
                <a:ea typeface="Arial"/>
                <a:cs typeface="Arial"/>
              </a:rPr>
              <a:t>Академический руководитель: А. И. Храбров, доц., к.т.н.</a:t>
            </a:r>
            <a:endParaRPr sz="16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" name="Google Shape;188;p15"/>
          <p:cNvSpPr txBox="1"/>
          <p:nvPr>
            <p:ph type="title"/>
          </p:nvPr>
        </p:nvSpPr>
        <p:spPr bwMode="auto">
          <a:xfrm>
            <a:off x="640835" y="1597725"/>
            <a:ext cx="8354902" cy="5455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rm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/>
            </a:pPr>
            <a:r>
              <a:rPr lang="ru-RU" sz="1600" b="1" i="0" u="none" strike="noStrike" cap="none">
                <a:solidFill>
                  <a:schemeClr val="dk1"/>
                </a:solidFill>
              </a:rPr>
              <a:t>Longest Common Subsequence (LCS) </a:t>
            </a:r>
            <a:r>
              <a:rPr lang="ru-RU" sz="1600" i="0" u="none" strike="noStrike" cap="none">
                <a:solidFill>
                  <a:schemeClr val="dk1"/>
                </a:solidFill>
              </a:rPr>
              <a:t>— наибольшая общая подпоследовательность двух строк. Подпоследовательность получается удалением некоторых элементов без изменения порядка оставшихся.</a:t>
            </a:r>
            <a:br>
              <a:rPr lang="ru-RU" sz="1600" i="0" u="none" strike="noStrike" cap="none">
                <a:solidFill>
                  <a:schemeClr val="dk1"/>
                </a:solidFill>
              </a:rPr>
            </a:br>
            <a:endParaRPr sz="1600" i="0" u="none" strike="noStrike" cap="none">
              <a:solidFill>
                <a:schemeClr val="dk1"/>
              </a:solidFill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/>
            </a:pPr>
            <a:r>
              <a:rPr lang="ru-RU" sz="1600" b="1" i="0" u="none" strike="noStrike" cap="none">
                <a:solidFill>
                  <a:schemeClr val="dk1"/>
                </a:solidFill>
              </a:rPr>
              <a:t>Случайные строки над алфавитом </a:t>
            </a:r>
            <a:r>
              <a:rPr lang="ru-RU" sz="1600" b="1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σ</a:t>
            </a:r>
            <a:r>
              <a:rPr lang="ru-RU" sz="1600" b="1" i="0" u="none" strike="noStrike" cap="none">
                <a:solidFill>
                  <a:schemeClr val="dk1"/>
                </a:solidFill>
              </a:rPr>
              <a:t> </a:t>
            </a:r>
            <a:r>
              <a:rPr lang="ru-RU" sz="1600" i="0" u="none" strike="noStrike" cap="none">
                <a:solidFill>
                  <a:schemeClr val="dk1"/>
                </a:solidFill>
              </a:rPr>
              <a:t>— две независимые строки X, Y длины n, где каждый элемент независимо выбирается из {0, 1, ..., </a:t>
            </a:r>
            <a:r>
              <a:rPr lang="ru-RU" sz="16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σ</a:t>
            </a:r>
            <a:r>
              <a:rPr lang="ru-RU" sz="1600" i="0" u="none" strike="noStrike" cap="none">
                <a:solidFill>
                  <a:schemeClr val="dk1"/>
                </a:solidFill>
              </a:rPr>
              <a:t>} с вероятностью 1/</a:t>
            </a:r>
            <a:r>
              <a:rPr lang="ru-RU" sz="16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σ</a:t>
            </a:r>
            <a:r>
              <a:rPr lang="ru-RU" sz="1600" i="0" u="none" strike="noStrike" cap="none">
                <a:solidFill>
                  <a:schemeClr val="dk1"/>
                </a:solidFill>
              </a:rPr>
              <a:t>.</a:t>
            </a:r>
            <a:endParaRPr sz="1600" i="0" u="none" strike="noStrike" cap="none">
              <a:solidFill>
                <a:schemeClr val="dk1"/>
              </a:solidFill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pPr>
            <a:endParaRPr sz="1600" i="0" u="none" strike="noStrike" cap="none">
              <a:solidFill>
                <a:schemeClr val="dk1"/>
              </a:solidFill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/>
            </a:pPr>
            <a:r>
              <a:rPr lang="ru-RU" sz="1600" b="1" i="0" u="none" strike="noStrike" cap="none">
                <a:solidFill>
                  <a:schemeClr val="dk1"/>
                </a:solidFill>
              </a:rPr>
              <a:t>Проблема Чватала–Санкоффа (1975): </a:t>
            </a:r>
            <a:r>
              <a:rPr lang="ru-RU" sz="1600" i="0" u="none" strike="noStrike" cap="none">
                <a:solidFill>
                  <a:schemeClr val="dk1"/>
                </a:solidFill>
              </a:rPr>
              <a:t>Для двух случайных строк длины n, матожидание длины их LCS асимптотически линейно:</a:t>
            </a:r>
            <a:endParaRPr sz="1600" i="0" u="none" strike="noStrike" cap="none">
              <a:solidFill>
                <a:schemeClr val="dk1"/>
              </a:solidFill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/>
            </a:pPr>
            <a:r>
              <a:rPr lang="ru-RU" sz="1600" i="0" u="none" strike="noStrike" cap="none">
                <a:solidFill>
                  <a:schemeClr val="dk1"/>
                </a:solidFill>
              </a:rPr>
              <a:t>	E[</a:t>
            </a:r>
            <a:r>
              <a:rPr lang="ru-RU" sz="16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LCS(X, Y)</a:t>
            </a:r>
            <a:r>
              <a:rPr lang="ru-RU" sz="1600" i="0" u="none" strike="noStrike" cap="none">
                <a:solidFill>
                  <a:schemeClr val="dk1"/>
                </a:solidFill>
              </a:rPr>
              <a:t>] ~ γ_</a:t>
            </a:r>
            <a:r>
              <a:rPr lang="ru-RU" sz="16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σ</a:t>
            </a:r>
            <a:r>
              <a:rPr lang="ru-RU" sz="1600" i="0" u="none" strike="noStrike" cap="none">
                <a:solidFill>
                  <a:schemeClr val="dk1"/>
                </a:solidFill>
              </a:rPr>
              <a:t> · n при n → ∞</a:t>
            </a:r>
            <a:endParaRPr sz="1600" i="0" u="none" strike="noStrike" cap="none">
              <a:solidFill>
                <a:schemeClr val="dk1"/>
              </a:solidFill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/>
            </a:pPr>
            <a:r>
              <a:rPr lang="ru-RU" sz="1600" i="0" u="none" strike="noStrike" cap="none">
                <a:solidFill>
                  <a:schemeClr val="dk1"/>
                </a:solidFill>
              </a:rPr>
              <a:t>где γ_</a:t>
            </a:r>
            <a:r>
              <a:rPr lang="ru-RU" sz="16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σ</a:t>
            </a:r>
            <a:r>
              <a:rPr lang="ru-RU" sz="1600" i="0" u="none" strike="noStrike" cap="none">
                <a:solidFill>
                  <a:schemeClr val="dk1"/>
                </a:solidFill>
              </a:rPr>
              <a:t> — константа Чватала–Санкоффа для алфавита величины </a:t>
            </a:r>
            <a:r>
              <a:rPr lang="ru-RU" sz="16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σ</a:t>
            </a:r>
            <a:r>
              <a:rPr lang="ru-RU" sz="1600" i="0" u="none" strike="noStrike" cap="none">
                <a:solidFill>
                  <a:schemeClr val="dk1"/>
                </a:solidFill>
              </a:rPr>
              <a:t>.	</a:t>
            </a:r>
            <a:endParaRPr sz="1600" i="0" u="none" strike="noStrike" cap="none">
              <a:solidFill>
                <a:schemeClr val="dk1"/>
              </a:solidFill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pPr>
            <a:endParaRPr sz="1600" i="0" u="none" strike="noStrike" cap="none">
              <a:solidFill>
                <a:schemeClr val="dk1"/>
              </a:solidFill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/>
            </a:pPr>
            <a:r>
              <a:rPr lang="ru-RU" sz="1600" b="1" i="0" u="none" strike="noStrike" cap="none">
                <a:solidFill>
                  <a:schemeClr val="dk1"/>
                </a:solidFill>
              </a:rPr>
              <a:t>Открытая проблема: </a:t>
            </a:r>
            <a:r>
              <a:rPr lang="ru-RU" sz="16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точное значение γ_σ неизвестно ни при каком σ с 1975 года</a:t>
            </a:r>
            <a:r>
              <a:rPr lang="ru-RU" sz="1600" i="0" u="none" strike="noStrike" cap="none">
                <a:solidFill>
                  <a:schemeClr val="dk1"/>
                </a:solidFill>
              </a:rPr>
              <a:t>!</a:t>
            </a:r>
            <a:endParaRPr sz="1600" i="0" u="none" strike="noStrike" cap="none">
              <a:solidFill>
                <a:schemeClr val="dk1"/>
              </a:solidFill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pPr>
            <a:endParaRPr sz="1600" i="0" u="none" strike="noStrike" cap="none">
              <a:solidFill>
                <a:schemeClr val="dk1"/>
              </a:solidFill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/>
            </a:pPr>
            <a:r>
              <a:rPr lang="ru-RU" sz="1600" b="1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Бинарный алфавит (σ=2) — наиболее изученный случай</a:t>
            </a:r>
            <a:r>
              <a:rPr lang="ru-RU" sz="1600" b="1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:</a:t>
            </a:r>
            <a:endParaRPr sz="1600" b="1" i="0" u="none" strike="noStrike" cap="none">
              <a:solidFill>
                <a:schemeClr val="dk1"/>
              </a:solidFill>
            </a:endParaRPr>
          </a:p>
          <a:p>
            <a:pPr marL="261850" lvl="0" indent="-261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pPr>
            <a:r>
              <a:rPr lang="ru-RU" sz="1600" i="0" u="none" strike="noStrike" cap="none">
                <a:solidFill>
                  <a:schemeClr val="dk1"/>
                </a:solidFill>
              </a:rPr>
              <a:t>Нижняя: </a:t>
            </a:r>
            <a:r>
              <a:rPr lang="ru-RU" sz="1600" b="1" i="0" u="none" strike="noStrike" cap="none">
                <a:solidFill>
                  <a:srgbClr val="FF0000"/>
                </a:solidFill>
              </a:rPr>
              <a:t>γ_2 ≥ 0.792666 (Heineman et al., 2024)</a:t>
            </a:r>
            <a:endParaRPr sz="1600" b="1" i="0" u="none" strike="noStrike" cap="none">
              <a:solidFill>
                <a:srgbClr val="FF0000"/>
              </a:solidFill>
            </a:endParaRPr>
          </a:p>
          <a:p>
            <a:pPr marL="261849" lvl="1" indent="-26184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pPr>
            <a:r>
              <a:rPr lang="ru-RU" sz="1600" i="0" u="none" strike="noStrike" cap="none">
                <a:solidFill>
                  <a:schemeClr val="dk1"/>
                </a:solidFill>
              </a:rPr>
              <a:t>Верхняя: γ_2 ≤ 0.826280 (Lueker, 2009)</a:t>
            </a:r>
            <a:endParaRPr sz="1600" i="0" u="none" strike="noStrike" cap="none">
              <a:solidFill>
                <a:schemeClr val="dk1"/>
              </a:solidFill>
            </a:endParaRPr>
          </a:p>
          <a:p>
            <a:pPr marL="261850" lvl="1" indent="-261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pPr>
            <a:r>
              <a:rPr lang="ru-RU" sz="16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Эмпирическая: </a:t>
            </a:r>
            <a:r>
              <a:rPr lang="ru-RU" sz="1600">
                <a:solidFill>
                  <a:schemeClr val="dk1"/>
                </a:solidFill>
              </a:rPr>
              <a:t>γ_2 ~ 0.811 (Метод Монте-Карло)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89" name="Google Shape;189;p15"/>
          <p:cNvSpPr txBox="1"/>
          <p:nvPr>
            <p:ph type="body" idx="3"/>
          </p:nvPr>
        </p:nvSpPr>
        <p:spPr bwMode="auto"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pPr>
            <a:r>
              <a:rPr lang="ru-RU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Школа информатики, физики и технологий</a:t>
            </a:r>
            <a:endParaRPr sz="1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pPr>
            <a:endParaRPr/>
          </a:p>
        </p:txBody>
      </p:sp>
      <p:sp>
        <p:nvSpPr>
          <p:cNvPr id="190" name="Google Shape;190;p15"/>
          <p:cNvSpPr txBox="1"/>
          <p:nvPr>
            <p:ph type="body" idx="4"/>
          </p:nvPr>
        </p:nvSpPr>
        <p:spPr bwMode="auto"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/>
            </a:pPr>
            <a:r>
              <a:rPr lang="ru-RU"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</a:rPr>
              <a:t>DP с окнами для константы Чватала-Санкоффа</a:t>
            </a:r>
            <a:endParaRPr sz="1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/>
            </a:pPr>
            <a:endParaRPr/>
          </a:p>
        </p:txBody>
      </p:sp>
      <p:sp>
        <p:nvSpPr>
          <p:cNvPr id="191" name="Google Shape;191;p15"/>
          <p:cNvSpPr txBox="1"/>
          <p:nvPr>
            <p:ph type="body" idx="5"/>
          </p:nvPr>
        </p:nvSpPr>
        <p:spPr bwMode="auto">
          <a:xfrm>
            <a:off x="640835" y="1189616"/>
            <a:ext cx="5851782" cy="408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2000"/>
              <a:buNone/>
              <a:defRPr/>
            </a:pPr>
            <a:r>
              <a:rPr lang="ru-RU" sz="2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</a:rPr>
              <a:t>Введение в предметную область</a:t>
            </a:r>
            <a:endParaRPr sz="2000"/>
          </a:p>
        </p:txBody>
      </p:sp>
      <p:sp>
        <p:nvSpPr>
          <p:cNvPr id="192" name="Google Shape;192;p15"/>
          <p:cNvSpPr txBox="1"/>
          <p:nvPr/>
        </p:nvSpPr>
        <p:spPr bwMode="auto">
          <a:xfrm>
            <a:off x="457200" y="137160"/>
            <a:ext cx="183636" cy="22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3" name="Google Shape;193;p15"/>
          <p:cNvSpPr txBox="1"/>
          <p:nvPr/>
        </p:nvSpPr>
        <p:spPr bwMode="auto">
          <a:xfrm>
            <a:off x="2743200" y="137160"/>
            <a:ext cx="183636" cy="366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4" name="Google Shape;194;p15"/>
          <p:cNvSpPr txBox="1"/>
          <p:nvPr/>
        </p:nvSpPr>
        <p:spPr bwMode="auto">
          <a:xfrm>
            <a:off x="6400800" y="137160"/>
            <a:ext cx="183636" cy="366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5" name="Google Shape;195;p15"/>
          <p:cNvSpPr txBox="1"/>
          <p:nvPr/>
        </p:nvSpPr>
        <p:spPr bwMode="auto">
          <a:xfrm>
            <a:off x="8412480" y="91440"/>
            <a:ext cx="183636" cy="305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96" name="Google Shape;196;p15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9168920" y="3206884"/>
            <a:ext cx="2325206" cy="2236907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5"/>
          <p:cNvSpPr txBox="1"/>
          <p:nvPr/>
        </p:nvSpPr>
        <p:spPr bwMode="auto">
          <a:xfrm>
            <a:off x="8735965" y="5573250"/>
            <a:ext cx="3214624" cy="914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Пример:</a:t>
            </a:r>
            <a:r>
              <a:rPr lang="ru-RU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LCS("ABCD", "ACBD") = "ABD" (длина 3)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8" name="Google Shape;198;p15"/>
          <p:cNvSpPr txBox="1"/>
          <p:nvPr/>
        </p:nvSpPr>
        <p:spPr bwMode="auto">
          <a:xfrm>
            <a:off x="6400800" y="406425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ru-RU" sz="1000">
                <a:solidFill>
                  <a:srgbClr val="0E2D69"/>
                </a:solidFill>
              </a:rPr>
              <a:t>Прикладная математика и информатика</a:t>
            </a:r>
            <a:br>
              <a:rPr lang="ru-RU" sz="1000">
                <a:solidFill>
                  <a:srgbClr val="0E2D69"/>
                </a:solidFill>
              </a:rPr>
            </a:br>
            <a:r>
              <a:rPr lang="ru-RU" sz="1000">
                <a:solidFill>
                  <a:srgbClr val="0E2D69"/>
                </a:solidFill>
              </a:rPr>
              <a:t>Санкт-Петербург, 2025</a:t>
            </a:r>
            <a:br>
              <a:rPr lang="ru-RU" sz="1000">
                <a:solidFill>
                  <a:srgbClr val="0E2D69"/>
                </a:solidFill>
              </a:rPr>
            </a:br>
            <a:r>
              <a:rPr lang="ru-RU" sz="1000">
                <a:solidFill>
                  <a:srgbClr val="0E2D69"/>
                </a:solidFill>
              </a:rPr>
              <a:t>Юкачев Дмитрий Евгеньевич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" name="Google Shape;203;p16"/>
          <p:cNvSpPr txBox="1"/>
          <p:nvPr>
            <p:ph type="title"/>
          </p:nvPr>
        </p:nvSpPr>
        <p:spPr bwMode="auto">
          <a:xfrm>
            <a:off x="585897" y="1948692"/>
            <a:ext cx="7349101" cy="4325106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36000" tIns="36000" rIns="36000" bIns="36000" numCol="1" spcCol="0" rtlCol="0" fromWordArt="0" anchor="t" anchorCtr="0" forceAA="0" upright="0" compatLnSpc="0">
            <a:norm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/>
            </a:pPr>
            <a:r>
              <a:rPr lang="ru-RU" sz="1600" b="1" i="0" u="none" strike="noStrike" cap="none">
                <a:solidFill>
                  <a:schemeClr val="dk1"/>
                </a:solidFill>
              </a:rPr>
              <a:t>Цель работы:</a:t>
            </a:r>
            <a:br>
              <a:rPr lang="ru-RU" sz="1600" b="1" i="0" u="none" strike="noStrike" cap="none">
                <a:solidFill>
                  <a:schemeClr val="dk1"/>
                </a:solidFill>
              </a:rPr>
            </a:br>
            <a:endParaRPr sz="1600" b="1" i="0" u="none" strike="noStrike" cap="none">
              <a:solidFill>
                <a:schemeClr val="dk1"/>
              </a:solidFill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/>
            </a:pPr>
            <a:r>
              <a:rPr lang="ru-RU" sz="1600" i="0" u="none" strike="noStrike" cap="none">
                <a:solidFill>
                  <a:schemeClr val="dk1"/>
                </a:solidFill>
              </a:rPr>
              <a:t>Получить улучшенную строгую нижнюю оценку для константы Чватала–Санкоффа γ_2, превосходящую современные результаты.</a:t>
            </a:r>
            <a:br>
              <a:rPr lang="ru-RU" sz="1600" i="0" u="none" strike="noStrike" cap="none">
                <a:solidFill>
                  <a:schemeClr val="dk1"/>
                </a:solidFill>
              </a:rPr>
            </a:br>
            <a:endParaRPr sz="1600" i="0" u="none" strike="noStrike" cap="none">
              <a:solidFill>
                <a:schemeClr val="dk1"/>
              </a:solidFill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/>
            </a:pPr>
            <a:r>
              <a:rPr lang="ru-RU" sz="1600" b="1" i="0" u="none" strike="noStrike" cap="none">
                <a:solidFill>
                  <a:schemeClr val="dk1"/>
                </a:solidFill>
              </a:rPr>
              <a:t>Задачи:</a:t>
            </a:r>
            <a:br>
              <a:rPr lang="ru-RU" sz="1600" b="1" i="0" u="none" strike="noStrike" cap="none">
                <a:solidFill>
                  <a:schemeClr val="dk1"/>
                </a:solidFill>
              </a:rPr>
            </a:br>
            <a:endParaRPr sz="1600" b="1" i="0" u="none" strike="noStrike" cap="none">
              <a:solidFill>
                <a:schemeClr val="dk1"/>
              </a:solidFill>
            </a:endParaRPr>
          </a:p>
          <a:p>
            <a:pPr marL="261849" marR="0" lvl="0" indent="-26184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/>
            </a:pPr>
            <a:r>
              <a:rPr lang="ru-RU" sz="16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Разработать вычислительный метод оценки E[LCS] случайных строк на основе динамического программирования с ограниченным горизонтом обзора</a:t>
            </a:r>
            <a:endParaRPr sz="1600" i="0" u="none" strike="noStrike" cap="none">
              <a:solidFill>
                <a:schemeClr val="dk1"/>
              </a:solidFill>
            </a:endParaRPr>
          </a:p>
          <a:p>
            <a:pPr marL="261850" marR="0" lvl="0" indent="-261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/>
            </a:pPr>
            <a:r>
              <a:rPr lang="ru-RU" sz="16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Эффективно реализовать алгоритм с оптимизациями для больших параметров</a:t>
            </a:r>
            <a:endParaRPr sz="1600" i="0" u="none" strike="noStrike" cap="none">
              <a:solidFill>
                <a:schemeClr val="dk1"/>
              </a:solidFill>
            </a:endParaRPr>
          </a:p>
          <a:p>
            <a:pPr marL="261850" marR="0" lvl="0" indent="-261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/>
            </a:pPr>
            <a:r>
              <a:rPr lang="ru-RU" sz="15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Провести масштабные численные эксперименты</a:t>
            </a:r>
            <a:endParaRPr sz="1600" i="0" u="none" strike="noStrike" cap="none">
              <a:solidFill>
                <a:schemeClr val="dk1"/>
              </a:solidFill>
            </a:endParaRPr>
          </a:p>
          <a:p>
            <a:pPr marL="261850" marR="0" lvl="0" indent="-261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/>
            </a:pPr>
            <a:r>
              <a:rPr lang="ru-RU" sz="1600" i="0" u="none" strike="noStrike" cap="none">
                <a:solidFill>
                  <a:schemeClr val="dk1"/>
                </a:solidFill>
              </a:rPr>
              <a:t>Сравнить полученные результаты с лучшими известными оценками из литературы</a:t>
            </a:r>
            <a:endParaRPr sz="1600" i="0" u="none" strike="noStrike" cap="none">
              <a:solidFill>
                <a:schemeClr val="dk1"/>
              </a:solidFill>
            </a:endParaRPr>
          </a:p>
          <a:p>
            <a:pPr marL="261850" marR="0" lvl="0" indent="-261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/>
            </a:pPr>
            <a:r>
              <a:rPr lang="ru-RU" sz="16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Исследовать применимость метода к другим размерам алфавита</a:t>
            </a:r>
            <a:endParaRPr sz="16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04" name="Google Shape;204;p16"/>
          <p:cNvSpPr txBox="1"/>
          <p:nvPr>
            <p:ph type="body" idx="3"/>
          </p:nvPr>
        </p:nvSpPr>
        <p:spPr bwMode="auto"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pPr>
            <a:r>
              <a:rPr lang="ru-RU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Школа информатики, физики и технологий</a:t>
            </a:r>
            <a:endParaRPr sz="1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pPr>
            <a:endParaRPr/>
          </a:p>
        </p:txBody>
      </p:sp>
      <p:sp>
        <p:nvSpPr>
          <p:cNvPr id="205" name="Google Shape;205;p16"/>
          <p:cNvSpPr txBox="1"/>
          <p:nvPr>
            <p:ph type="body" idx="4"/>
          </p:nvPr>
        </p:nvSpPr>
        <p:spPr bwMode="auto"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/>
            </a:pPr>
            <a:r>
              <a:rPr lang="ru-RU"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</a:rPr>
              <a:t>DP с окнами для константы Чватала-Санкоффа</a:t>
            </a:r>
            <a:endParaRPr sz="1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/>
            </a:pPr>
            <a:endParaRPr/>
          </a:p>
        </p:txBody>
      </p:sp>
      <p:sp>
        <p:nvSpPr>
          <p:cNvPr id="206" name="Google Shape;206;p16"/>
          <p:cNvSpPr txBox="1"/>
          <p:nvPr>
            <p:ph type="body" idx="5"/>
          </p:nvPr>
        </p:nvSpPr>
        <p:spPr bwMode="auto">
          <a:xfrm>
            <a:off x="585897" y="1243735"/>
            <a:ext cx="4643136" cy="408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2400"/>
              <a:buNone/>
              <a:defRPr/>
            </a:pPr>
            <a:r>
              <a:rPr lang="ru-RU" sz="24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</a:rPr>
              <a:t>Цели и задачи исследования</a:t>
            </a:r>
            <a:endParaRPr sz="2400"/>
          </a:p>
        </p:txBody>
      </p:sp>
      <p:sp>
        <p:nvSpPr>
          <p:cNvPr id="207" name="Google Shape;207;p16"/>
          <p:cNvSpPr txBox="1"/>
          <p:nvPr/>
        </p:nvSpPr>
        <p:spPr bwMode="auto">
          <a:xfrm>
            <a:off x="457200" y="137160"/>
            <a:ext cx="183636" cy="366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8" name="Google Shape;208;p16"/>
          <p:cNvSpPr txBox="1"/>
          <p:nvPr/>
        </p:nvSpPr>
        <p:spPr bwMode="auto">
          <a:xfrm>
            <a:off x="2743200" y="137160"/>
            <a:ext cx="183636" cy="366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9" name="Google Shape;209;p16"/>
          <p:cNvSpPr txBox="1"/>
          <p:nvPr/>
        </p:nvSpPr>
        <p:spPr bwMode="auto">
          <a:xfrm>
            <a:off x="6400800" y="137160"/>
            <a:ext cx="183636" cy="366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0" name="Google Shape;210;p16"/>
          <p:cNvSpPr txBox="1"/>
          <p:nvPr/>
        </p:nvSpPr>
        <p:spPr bwMode="auto">
          <a:xfrm>
            <a:off x="8412480" y="91440"/>
            <a:ext cx="183636" cy="305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1" name="Google Shape;211;p16"/>
          <p:cNvSpPr txBox="1"/>
          <p:nvPr/>
        </p:nvSpPr>
        <p:spPr bwMode="auto"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/>
              <a:t>​​</a:t>
            </a:r>
            <a:endParaRPr/>
          </a:p>
        </p:txBody>
      </p:sp>
      <p:sp>
        <p:nvSpPr>
          <p:cNvPr id="212" name="Google Shape;212;p16"/>
          <p:cNvSpPr txBox="1"/>
          <p:nvPr/>
        </p:nvSpPr>
        <p:spPr bwMode="auto">
          <a:xfrm>
            <a:off x="6400800" y="406425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ru-RU" sz="1000">
                <a:solidFill>
                  <a:srgbClr val="0E2D69"/>
                </a:solidFill>
              </a:rPr>
              <a:t>Прикладная математика и информатика</a:t>
            </a:r>
            <a:br>
              <a:rPr lang="ru-RU" sz="1000">
                <a:solidFill>
                  <a:srgbClr val="0E2D69"/>
                </a:solidFill>
              </a:rPr>
            </a:br>
            <a:r>
              <a:rPr lang="ru-RU" sz="1000">
                <a:solidFill>
                  <a:srgbClr val="0E2D69"/>
                </a:solidFill>
              </a:rPr>
              <a:t>Санкт-Петербург, 2025</a:t>
            </a:r>
            <a:br>
              <a:rPr lang="ru-RU" sz="1000">
                <a:solidFill>
                  <a:srgbClr val="0E2D69"/>
                </a:solidFill>
              </a:rPr>
            </a:br>
            <a:r>
              <a:rPr lang="ru-RU" sz="1000">
                <a:solidFill>
                  <a:srgbClr val="0E2D69"/>
                </a:solidFill>
              </a:rPr>
              <a:t>Юкачев Дмитрий Евгеньевич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" name="Google Shape;217;p17"/>
          <p:cNvSpPr txBox="1"/>
          <p:nvPr>
            <p:ph type="body" idx="3"/>
          </p:nvPr>
        </p:nvSpPr>
        <p:spPr bwMode="auto"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pPr>
            <a:r>
              <a:rPr lang="ru-RU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Школа информатики, физики и технологий</a:t>
            </a:r>
            <a:endParaRPr sz="1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pPr>
            <a:endParaRPr/>
          </a:p>
        </p:txBody>
      </p:sp>
      <p:sp>
        <p:nvSpPr>
          <p:cNvPr id="218" name="Google Shape;218;p17"/>
          <p:cNvSpPr txBox="1"/>
          <p:nvPr>
            <p:ph type="body" idx="4"/>
          </p:nvPr>
        </p:nvSpPr>
        <p:spPr bwMode="auto"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/>
            </a:pPr>
            <a:r>
              <a:rPr lang="ru-RU"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</a:rPr>
              <a:t>DP с окнами для константы Чватала-Санкоффа</a:t>
            </a:r>
            <a:endParaRPr sz="1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/>
            </a:pPr>
            <a:endParaRPr/>
          </a:p>
        </p:txBody>
      </p:sp>
      <p:sp>
        <p:nvSpPr>
          <p:cNvPr id="219" name="Google Shape;219;p17"/>
          <p:cNvSpPr txBox="1"/>
          <p:nvPr>
            <p:ph type="body" idx="5"/>
          </p:nvPr>
        </p:nvSpPr>
        <p:spPr bwMode="auto">
          <a:xfrm>
            <a:off x="585897" y="1245332"/>
            <a:ext cx="2070099" cy="408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2400"/>
              <a:buNone/>
              <a:defRPr/>
            </a:pPr>
            <a:r>
              <a:rPr lang="ru-RU" sz="24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</a:rPr>
              <a:t>Результаты</a:t>
            </a:r>
            <a:endParaRPr sz="2400"/>
          </a:p>
        </p:txBody>
      </p:sp>
      <p:sp>
        <p:nvSpPr>
          <p:cNvPr id="220" name="Google Shape;220;p17"/>
          <p:cNvSpPr txBox="1"/>
          <p:nvPr/>
        </p:nvSpPr>
        <p:spPr bwMode="auto">
          <a:xfrm>
            <a:off x="8436587" y="137160"/>
            <a:ext cx="250572" cy="22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17"/>
          <p:cNvSpPr txBox="1"/>
          <p:nvPr/>
        </p:nvSpPr>
        <p:spPr bwMode="auto">
          <a:xfrm>
            <a:off x="8412480" y="91440"/>
            <a:ext cx="183636" cy="305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22" name="Google Shape;222;p17"/>
          <p:cNvGraphicFramePr>
            <a:graphicFrameLocks xmlns:a="http://schemas.openxmlformats.org/drawingml/2006/main"/>
          </p:cNvGraphicFramePr>
          <p:nvPr/>
        </p:nvGraphicFramePr>
        <p:xfrm>
          <a:off x="1078362" y="1877519"/>
          <a:ext cx="3612699" cy="355605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{0331C930-ED13-413F-9697-A6BCCBE4ACE2}</a:tableStyleId>
                <a:noFill/>
              </a:tblPr>
              <a:tblGrid>
                <a:gridCol w="1620000"/>
                <a:gridCol w="630000"/>
                <a:gridCol w="1350000"/>
              </a:tblGrid>
              <a:tr h="365750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Авторы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Год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Нижняя оценка γ₂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/>
                </a:tc>
              </a:tr>
              <a:tr h="365750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Chvátal &amp; Sankoff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1975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≥ </a:t>
                      </a:r>
                      <a:r>
                        <a:rPr lang="ru-RU" sz="14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0.7615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/>
                </a:tc>
              </a:tr>
              <a:tr h="365750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Dančík &amp; Paterson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1995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≥ 0.773911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/>
                </a:tc>
              </a:tr>
              <a:tr h="365750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Lueker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2003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≥ 0.788071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/>
                </a:tc>
              </a:tr>
              <a:tr h="365750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Heineman et al.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2024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≥ 0.79266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/>
                </a:tc>
              </a:tr>
              <a:tr h="365750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4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Данная работа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400" b="1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4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2025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400" b="1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4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≥ </a:t>
                      </a:r>
                      <a:r>
                        <a:rPr lang="ru-RU" b="1"/>
                        <a:t>0.7964</a:t>
                      </a:r>
                      <a:endParaRPr b="1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b="1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223" name="Google Shape;223;p17"/>
          <p:cNvSpPr txBox="1"/>
          <p:nvPr/>
        </p:nvSpPr>
        <p:spPr bwMode="auto">
          <a:xfrm>
            <a:off x="6403825" y="406425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ru-RU" sz="1000">
                <a:solidFill>
                  <a:srgbClr val="0E2D69"/>
                </a:solidFill>
              </a:rPr>
              <a:t>Прикладная математика и информатика</a:t>
            </a:r>
            <a:br>
              <a:rPr lang="ru-RU" sz="1000">
                <a:solidFill>
                  <a:srgbClr val="0E2D69"/>
                </a:solidFill>
              </a:rPr>
            </a:br>
            <a:r>
              <a:rPr lang="ru-RU" sz="1000">
                <a:solidFill>
                  <a:srgbClr val="0E2D69"/>
                </a:solidFill>
              </a:rPr>
              <a:t>Санкт-Петербург, 2025</a:t>
            </a:r>
            <a:br>
              <a:rPr lang="ru-RU" sz="1000">
                <a:solidFill>
                  <a:srgbClr val="0E2D69"/>
                </a:solidFill>
              </a:rPr>
            </a:br>
            <a:r>
              <a:rPr lang="ru-RU" sz="1000">
                <a:solidFill>
                  <a:srgbClr val="0E2D69"/>
                </a:solidFill>
              </a:rPr>
              <a:t>Юкачев Дмитрий Евгеньевич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 bwMode="auto">
          <a:xfrm flipH="0" flipV="0">
            <a:off x="6001847" y="1877519"/>
            <a:ext cx="5004900" cy="1334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-RU" b="1">
                <a:solidFill>
                  <a:srgbClr val="0F2C68"/>
                </a:solidFill>
              </a:rPr>
              <a:t>Текущий результат:</a:t>
            </a:r>
            <a:endParaRPr/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-RU">
                <a:solidFill>
                  <a:srgbClr val="0F2C68"/>
                </a:solidFill>
              </a:rPr>
              <a:t>Получена новая лучшая строгая нижняя оценка для γ_2:</a:t>
            </a:r>
            <a:br>
              <a:rPr lang="ru-RU">
                <a:solidFill>
                  <a:srgbClr val="0F2C68"/>
                </a:solidFill>
              </a:rPr>
            </a:br>
            <a:r>
              <a:rPr lang="ru-RU">
                <a:solidFill>
                  <a:srgbClr val="0F2C68"/>
                </a:solidFill>
              </a:rPr>
              <a:t>γ_2 ≥ 0.7964</a:t>
            </a:r>
            <a:endParaRPr>
              <a:solidFill>
                <a:srgbClr val="0F2C68"/>
              </a:solidFill>
            </a:endParaRPr>
          </a:p>
        </p:txBody>
      </p:sp>
      <p:sp>
        <p:nvSpPr>
          <p:cNvPr id="607147404" name=""/>
          <p:cNvSpPr txBox="1"/>
          <p:nvPr/>
        </p:nvSpPr>
        <p:spPr bwMode="auto">
          <a:xfrm flipH="0" flipV="0">
            <a:off x="5921481" y="4392333"/>
            <a:ext cx="5531354" cy="10412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lvl="0" indent="0" algn="l">
              <a:lnSpc>
                <a:spcPct val="114999"/>
              </a:lnSpc>
              <a:spcBef>
                <a:spcPts val="1198"/>
              </a:spcBef>
              <a:spcAft>
                <a:spcPts val="0"/>
              </a:spcAft>
              <a:buNone/>
              <a:defRPr/>
            </a:pPr>
            <a:r>
              <a:rPr lang="ru-RU" sz="1400" b="1" i="0" u="none" strike="noStrike" cap="none" spc="0">
                <a:solidFill>
                  <a:srgbClr val="0F2C68"/>
                </a:solidFill>
                <a:latin typeface="Arial"/>
                <a:ea typeface="Arial"/>
                <a:cs typeface="Arial"/>
              </a:rPr>
              <a:t>Улучшение: </a:t>
            </a:r>
            <a:r>
              <a:rPr lang="ru-RU" sz="1400" b="0" i="0" u="none" strike="noStrike" cap="none" spc="0">
                <a:solidFill>
                  <a:srgbClr val="0F2C68"/>
                </a:solidFill>
                <a:latin typeface="Arial"/>
                <a:ea typeface="Arial"/>
                <a:cs typeface="Arial"/>
              </a:rPr>
              <a:t>Прирост +0.0037 к лучшей опубликованной оценке. Для сравнения: суммарный прогресс по задаче за 2003–2024 годы составил +0.0046.</a:t>
            </a:r>
            <a:endParaRPr sz="1400">
              <a:solidFill>
                <a:srgbClr val="0F2C68"/>
              </a:solidFill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" name="Google Shape;229;p18"/>
          <p:cNvSpPr txBox="1"/>
          <p:nvPr>
            <p:ph type="body" idx="3"/>
          </p:nvPr>
        </p:nvSpPr>
        <p:spPr bwMode="auto"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pPr>
            <a:r>
              <a:rPr lang="ru-RU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Школа информатики, физики и технологий</a:t>
            </a:r>
            <a:endParaRPr sz="1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pPr>
            <a:endParaRPr/>
          </a:p>
        </p:txBody>
      </p:sp>
      <p:sp>
        <p:nvSpPr>
          <p:cNvPr id="230" name="Google Shape;230;p18"/>
          <p:cNvSpPr txBox="1"/>
          <p:nvPr>
            <p:ph type="body" idx="4"/>
          </p:nvPr>
        </p:nvSpPr>
        <p:spPr bwMode="auto"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ctr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-RU"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</a:rPr>
              <a:t>DP с окнами для константы </a:t>
            </a:r>
            <a:r>
              <a:rPr lang="ru-RU">
                <a:solidFill>
                  <a:srgbClr val="0E2D69"/>
                </a:solidFill>
              </a:rPr>
              <a:t>Чватала</a:t>
            </a:r>
            <a:r>
              <a:rPr lang="ru-RU"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</a:rPr>
              <a:t>-Санкоффа</a:t>
            </a:r>
            <a:endParaRPr sz="1000"/>
          </a:p>
          <a:p>
            <a:pPr marL="0" lvl="0" indent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/>
            </a:pPr>
            <a:endParaRPr/>
          </a:p>
        </p:txBody>
      </p:sp>
      <p:sp>
        <p:nvSpPr>
          <p:cNvPr id="231" name="Google Shape;231;p18"/>
          <p:cNvSpPr txBox="1"/>
          <p:nvPr>
            <p:ph type="body" idx="5"/>
          </p:nvPr>
        </p:nvSpPr>
        <p:spPr bwMode="auto">
          <a:xfrm>
            <a:off x="585897" y="1243735"/>
            <a:ext cx="58149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2000"/>
              <a:buNone/>
              <a:defRPr/>
            </a:pPr>
            <a:r>
              <a:rPr lang="ru-RU" sz="2000"/>
              <a:t>Предпосылки решения</a:t>
            </a:r>
            <a:endParaRPr sz="2000"/>
          </a:p>
        </p:txBody>
      </p:sp>
      <p:sp>
        <p:nvSpPr>
          <p:cNvPr id="232" name="Google Shape;232;p18"/>
          <p:cNvSpPr txBox="1"/>
          <p:nvPr/>
        </p:nvSpPr>
        <p:spPr bwMode="auto">
          <a:xfrm>
            <a:off x="457200" y="137160"/>
            <a:ext cx="183636" cy="366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3" name="Google Shape;233;p18"/>
          <p:cNvSpPr txBox="1"/>
          <p:nvPr/>
        </p:nvSpPr>
        <p:spPr bwMode="auto">
          <a:xfrm>
            <a:off x="6400800" y="137160"/>
            <a:ext cx="183636" cy="366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4" name="Google Shape;234;p18"/>
          <p:cNvSpPr txBox="1"/>
          <p:nvPr/>
        </p:nvSpPr>
        <p:spPr bwMode="auto">
          <a:xfrm>
            <a:off x="8412480" y="91440"/>
            <a:ext cx="183636" cy="305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5" name="Google Shape;235;p18"/>
          <p:cNvSpPr txBox="1"/>
          <p:nvPr/>
        </p:nvSpPr>
        <p:spPr bwMode="auto">
          <a:xfrm>
            <a:off x="6400800" y="458162"/>
            <a:ext cx="3610800" cy="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-RU" sz="1000">
                <a:solidFill>
                  <a:srgbClr val="0E2D69"/>
                </a:solidFill>
              </a:rPr>
              <a:t>Прикладная математика и информатика</a:t>
            </a:r>
            <a:br>
              <a:rPr lang="ru-RU" sz="1000">
                <a:solidFill>
                  <a:srgbClr val="0E2D69"/>
                </a:solidFill>
              </a:rPr>
            </a:br>
            <a:r>
              <a:rPr lang="ru-RU" sz="1000">
                <a:solidFill>
                  <a:srgbClr val="0E2D69"/>
                </a:solidFill>
              </a:rPr>
              <a:t>Санкт-Петербург, 2025</a:t>
            </a:r>
            <a:br>
              <a:rPr lang="ru-RU" sz="1000">
                <a:solidFill>
                  <a:srgbClr val="0E2D69"/>
                </a:solidFill>
              </a:rPr>
            </a:br>
            <a:r>
              <a:rPr lang="ru-RU" sz="1000">
                <a:solidFill>
                  <a:srgbClr val="0E2D69"/>
                </a:solidFill>
              </a:rPr>
              <a:t>Юкачев Дмитрий Евгеньевич</a:t>
            </a:r>
            <a:endParaRPr sz="1000">
              <a:solidFill>
                <a:srgbClr val="0E2D69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-RU" sz="1100"/>
              <a:t> </a:t>
            </a:r>
            <a:endParaRPr sz="1100"/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-RU" sz="1100"/>
              <a:t> </a:t>
            </a:r>
            <a:endParaRPr sz="1100"/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None/>
              <a:defRPr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6" name="Google Shape;236;p18"/>
          <p:cNvSpPr txBox="1"/>
          <p:nvPr/>
        </p:nvSpPr>
        <p:spPr bwMode="auto">
          <a:xfrm>
            <a:off x="382100" y="1786824"/>
            <a:ext cx="6833700" cy="44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400" b="1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Идея получения нижней оценки</a:t>
            </a:r>
            <a:r>
              <a:rPr lang="ru-RU" b="1">
                <a:solidFill>
                  <a:schemeClr val="dk1"/>
                </a:solidFill>
              </a:rPr>
              <a:t>:</a:t>
            </a:r>
            <a:endParaRPr b="1">
              <a:solidFill>
                <a:schemeClr val="dk1"/>
              </a:solidFill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разбиваем строки на куски, считаем E[LCS] для каждой пары кусков. По </a:t>
            </a:r>
            <a:r>
              <a:rPr lang="ru-RU" sz="1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субаддитивности </a:t>
            </a:r>
            <a:r>
              <a:rPr lang="ru-RU" sz="1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сумма по кускам не превосходит E[LCS] целых строк → среднее по куску даёт нижнюю оценку γ_σ.</a:t>
            </a:r>
            <a:endParaRPr>
              <a:solidFill>
                <a:schemeClr val="dk1"/>
              </a:solidFill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dk1"/>
              </a:solidFill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Примеры (полный перебор, σ=2):</a:t>
            </a:r>
            <a:endParaRPr>
              <a:solidFill>
                <a:schemeClr val="dk1"/>
              </a:solidFill>
            </a:endParaRPr>
          </a:p>
          <a:p>
            <a:pPr marL="457200" lvl="0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pPr>
            <a:r>
              <a:rPr lang="ru-RU">
                <a:solidFill>
                  <a:schemeClr val="dk1"/>
                </a:solidFill>
              </a:rPr>
              <a:t>Для кусков длины 1, E=0.5</a:t>
            </a:r>
            <a:endParaRPr>
              <a:solidFill>
                <a:schemeClr val="dk1"/>
              </a:solidFill>
            </a:endParaRPr>
          </a:p>
          <a:p>
            <a:pPr marL="457200" lvl="0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pPr>
            <a:r>
              <a:rPr lang="ru-RU">
                <a:solidFill>
                  <a:schemeClr val="dk1"/>
                </a:solidFill>
              </a:rPr>
              <a:t>Для кусков длины 2, E=0.5625</a:t>
            </a:r>
            <a:endParaRPr lang="ru-RU">
              <a:solidFill>
                <a:schemeClr val="dk1"/>
              </a:solidFill>
            </a:endParaRPr>
          </a:p>
          <a:p>
            <a:pPr marL="457200" lvl="0" indent="-317499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pPr>
            <a:r>
              <a:rPr lang="ru-RU" sz="1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Для кусков длины 8, E=0</a:t>
            </a:r>
            <a:r>
              <a:rPr lang="ru-RU" sz="1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.6836 </a:t>
            </a:r>
            <a:endParaRPr sz="1400">
              <a:solidFill>
                <a:schemeClr val="dk1"/>
              </a:solidFill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Полный перебор работает за O(σ^(2n) · n²) — для кусков длины ≥ 14 уже нереально.</a:t>
            </a:r>
            <a:r>
              <a:rPr lang="ru-RU" sz="1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..</a:t>
            </a:r>
            <a:endParaRPr>
              <a:solidFill>
                <a:schemeClr val="dk1"/>
              </a:solidFill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dk1"/>
              </a:solidFill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400" b="1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Ключевая идея: </a:t>
            </a:r>
            <a:r>
              <a:rPr lang="ru-RU" sz="1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Генерировать строки «на ходу», видя только N символов вперёд. Любая стратегия с ограниченным обзором даёт валидную нижнюю оценку!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11188199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7374441" y="1243734"/>
            <a:ext cx="4266695" cy="2438111"/>
          </a:xfrm>
          <a:prstGeom prst="rect">
            <a:avLst/>
          </a:prstGeom>
        </p:spPr>
      </p:pic>
      <p:pic>
        <p:nvPicPr>
          <p:cNvPr id="5393630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215799" y="3901956"/>
            <a:ext cx="4043303" cy="23104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3" name="Google Shape;243;p19"/>
          <p:cNvSpPr txBox="1"/>
          <p:nvPr>
            <p:ph type="body" idx="3"/>
          </p:nvPr>
        </p:nvSpPr>
        <p:spPr bwMode="auto"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pPr>
            <a:r>
              <a:rPr lang="ru-RU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Школа информатики, физики и технологий</a:t>
            </a:r>
            <a:endParaRPr sz="1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pPr>
            <a:endParaRPr/>
          </a:p>
        </p:txBody>
      </p:sp>
      <p:sp>
        <p:nvSpPr>
          <p:cNvPr id="244" name="Google Shape;244;p19"/>
          <p:cNvSpPr txBox="1"/>
          <p:nvPr>
            <p:ph type="body" idx="4"/>
          </p:nvPr>
        </p:nvSpPr>
        <p:spPr bwMode="auto"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/>
            </a:pPr>
            <a:r>
              <a:rPr lang="ru-RU"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</a:rPr>
              <a:t>DP с окнами для константы Чватала-Санкоффа</a:t>
            </a:r>
            <a:endParaRPr sz="1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/>
            </a:pPr>
            <a:endParaRPr/>
          </a:p>
        </p:txBody>
      </p:sp>
      <p:sp>
        <p:nvSpPr>
          <p:cNvPr id="245" name="Google Shape;245;p19"/>
          <p:cNvSpPr txBox="1"/>
          <p:nvPr>
            <p:ph type="body" idx="5"/>
          </p:nvPr>
        </p:nvSpPr>
        <p:spPr bwMode="auto">
          <a:xfrm>
            <a:off x="585897" y="1243735"/>
            <a:ext cx="10704499" cy="408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2400"/>
              <a:buNone/>
              <a:defRPr/>
            </a:pPr>
            <a:r>
              <a:rPr lang="ru-RU" sz="24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</a:rPr>
              <a:t>Описание метода: Динамическое программирование с окнами</a:t>
            </a:r>
            <a:endParaRPr sz="2400"/>
          </a:p>
        </p:txBody>
      </p:sp>
      <p:sp>
        <p:nvSpPr>
          <p:cNvPr id="246" name="Google Shape;246;p19"/>
          <p:cNvSpPr txBox="1"/>
          <p:nvPr/>
        </p:nvSpPr>
        <p:spPr bwMode="auto">
          <a:xfrm>
            <a:off x="6400800" y="137160"/>
            <a:ext cx="183636" cy="366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7" name="Google Shape;247;p19"/>
          <p:cNvSpPr txBox="1"/>
          <p:nvPr/>
        </p:nvSpPr>
        <p:spPr bwMode="auto">
          <a:xfrm>
            <a:off x="8412480" y="91440"/>
            <a:ext cx="183636" cy="305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8" name="Google Shape;248;p19"/>
          <p:cNvSpPr txBox="1"/>
          <p:nvPr/>
        </p:nvSpPr>
        <p:spPr bwMode="auto">
          <a:xfrm flipH="0" flipV="0">
            <a:off x="697899" y="1751599"/>
            <a:ext cx="4487838" cy="261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200" b="1">
                <a:solidFill>
                  <a:schemeClr val="dk1"/>
                </a:solidFill>
              </a:rPr>
              <a:t>Состояние DP: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2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f_K(sh, maskA, maskB)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pPr>
            <a:r>
              <a:rPr lang="ru-RU" sz="1200">
                <a:solidFill>
                  <a:schemeClr val="dk1"/>
                </a:solidFill>
              </a:rPr>
              <a:t>K — оставшаяся длина строк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pPr>
            <a:r>
              <a:rPr lang="ru-RU" sz="12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sh ∈ [0, MAX_SH] — текущий сдвиг между указателями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pPr>
            <a:r>
              <a:rPr lang="ru-RU" sz="12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maskA, maskB</a:t>
            </a:r>
            <a:r>
              <a:rPr lang="ru-RU" sz="1200">
                <a:solidFill>
                  <a:schemeClr val="dk1"/>
                </a:solidFill>
              </a:rPr>
              <a:t> — </a:t>
            </a:r>
            <a:r>
              <a:rPr lang="ru-RU" sz="12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содержимое окон </a:t>
            </a:r>
            <a:br>
              <a:rPr lang="ru-RU" sz="12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</a:br>
            <a:r>
              <a:rPr lang="ru-RU" sz="12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(следующие N символов каждой строки)</a:t>
            </a:r>
            <a:endParaRPr lang="ru-RU" sz="1200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200">
              <a:solidFill>
                <a:schemeClr val="dk1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200" b="1">
                <a:solidFill>
                  <a:schemeClr val="dk1"/>
                </a:solidFill>
              </a:rPr>
              <a:t>Возвращает: </a:t>
            </a:r>
            <a:r>
              <a:rPr lang="ru-RU" sz="1200">
                <a:solidFill>
                  <a:schemeClr val="dk1"/>
                </a:solidFill>
              </a:rPr>
              <a:t>E[LCS] для данной конфигурации</a:t>
            </a:r>
            <a:br>
              <a:rPr lang="ru-RU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9" name="Google Shape;249;p19"/>
          <p:cNvSpPr txBox="1"/>
          <p:nvPr/>
        </p:nvSpPr>
        <p:spPr bwMode="auto">
          <a:xfrm>
            <a:off x="6400800" y="406412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ru-RU" sz="1000">
                <a:solidFill>
                  <a:srgbClr val="0E2D69"/>
                </a:solidFill>
              </a:rPr>
              <a:t>Прикладная математика и информатика</a:t>
            </a:r>
            <a:br>
              <a:rPr lang="ru-RU" sz="1000">
                <a:solidFill>
                  <a:srgbClr val="0E2D69"/>
                </a:solidFill>
              </a:rPr>
            </a:br>
            <a:r>
              <a:rPr lang="ru-RU" sz="1000">
                <a:solidFill>
                  <a:srgbClr val="0E2D69"/>
                </a:solidFill>
              </a:rPr>
              <a:t>Санкт-Петербург, 2025</a:t>
            </a:r>
            <a:br>
              <a:rPr lang="ru-RU" sz="1000">
                <a:solidFill>
                  <a:srgbClr val="0E2D69"/>
                </a:solidFill>
              </a:rPr>
            </a:br>
            <a:r>
              <a:rPr lang="ru-RU" sz="1000">
                <a:solidFill>
                  <a:srgbClr val="0E2D69"/>
                </a:solidFill>
              </a:rPr>
              <a:t>Юкачев Дмитрий Евгеньевич</a:t>
            </a:r>
            <a:endParaRPr/>
          </a:p>
        </p:txBody>
      </p:sp>
      <p:graphicFrame>
        <p:nvGraphicFramePr>
          <p:cNvPr id="252" name="Google Shape;252;p19"/>
          <p:cNvGraphicFramePr>
            <a:graphicFrameLocks xmlns:a="http://schemas.openxmlformats.org/drawingml/2006/main"/>
          </p:cNvGraphicFramePr>
          <p:nvPr/>
        </p:nvGraphicFramePr>
        <p:xfrm>
          <a:off x="5065518" y="1804392"/>
          <a:ext cx="6473824" cy="2386574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{0331C930-ED13-413F-9697-A6BCCBE4ACE2}</a:tableStyleId>
                <a:noFill/>
              </a:tblPr>
              <a:tblGrid>
                <a:gridCol w="2142841"/>
                <a:gridCol w="2142841"/>
                <a:gridCol w="2175443"/>
              </a:tblGrid>
              <a:tr h="608275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Случай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9" marR="91449" marT="45724" marB="45724" anchor="ctr"/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4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Условие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4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Действие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/>
                </a:tc>
              </a:tr>
              <a:tr h="292775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2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Совпадение</a:t>
                      </a:r>
                      <a:endParaRPr lang="ru-RU"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9" marR="91449" marT="45724" marB="45724"/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2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Первые символы окон совпали</a:t>
                      </a:r>
                      <a:endParaRPr sz="12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2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взять символ в LCS, +1, сдвинуть оба окна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91450" marT="45725" marB="45725"/>
                </a:tc>
              </a:tr>
              <a:tr h="292775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2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Несовпадение</a:t>
                      </a:r>
                      <a:endParaRPr lang="ru-RU"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9" marR="91449" marT="45724" marB="45724"/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200" b="1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sh</a:t>
                      </a:r>
                      <a:r>
                        <a:rPr lang="ru-RU" sz="12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 ∈ (0, MAX_SH)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2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max по двум вариантам: сдвинуть </a:t>
                      </a:r>
                      <a:r>
                        <a:rPr lang="ru-RU" sz="1200" b="1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r>
                        <a:rPr lang="ru-RU" sz="12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 (</a:t>
                      </a:r>
                      <a:r>
                        <a:rPr lang="ru-RU" sz="1200" b="1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sh</a:t>
                      </a:r>
                      <a:r>
                        <a:rPr lang="ru-RU" sz="12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 → </a:t>
                      </a:r>
                      <a:r>
                        <a:rPr lang="ru-RU" sz="1200" b="1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sh−1</a:t>
                      </a:r>
                      <a:r>
                        <a:rPr lang="ru-RU" sz="12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) </a:t>
                      </a:r>
                      <a:endParaRPr lang="ru-RU" sz="1200" b="0" i="0" u="none" strike="noStrike" cap="none" spc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2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или </a:t>
                      </a:r>
                      <a:r>
                        <a:rPr lang="ru-RU" sz="1200" b="1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b </a:t>
                      </a:r>
                      <a:r>
                        <a:rPr lang="ru-RU" sz="12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lang="ru-RU" sz="1200" b="1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sh</a:t>
                      </a:r>
                      <a:r>
                        <a:rPr lang="ru-RU" sz="12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 → </a:t>
                      </a:r>
                      <a:r>
                        <a:rPr lang="ru-RU" sz="1200" b="1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sh+1</a:t>
                      </a:r>
                      <a:r>
                        <a:rPr lang="ru-RU" sz="12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lang="ru-RU" sz="1200" b="0" i="0" u="none" strike="noStrike" cap="none" spc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91450" marT="45725" marB="45725"/>
                </a:tc>
              </a:tr>
              <a:tr h="292775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2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Граница левая</a:t>
                      </a:r>
                      <a:endParaRPr lang="ru-RU"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9" marR="91449" marT="45724" marB="45724"/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200" b="1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sh</a:t>
                      </a:r>
                      <a:r>
                        <a:rPr lang="ru-RU" sz="12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 = 0</a:t>
                      </a:r>
                      <a:endParaRPr sz="12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2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сдвинуть только </a:t>
                      </a:r>
                      <a:r>
                        <a:rPr lang="ru-RU" sz="1200" b="1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91450" marT="45725" marB="45725"/>
                </a:tc>
              </a:tr>
              <a:tr h="375525">
                <a:tc>
                  <a:txBody>
                    <a:bodyPr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Граница правая</a:t>
                      </a:r>
                      <a:endParaRPr lang="ru-RU" sz="1200" b="0" i="0" u="none" strike="noStrike" cap="none" spc="0">
                        <a:solidFill>
                          <a:schemeClr val="dk1"/>
                        </a:solidFill>
                        <a:latin typeface="Arial"/>
                        <a:cs typeface="Arial"/>
                      </a:endParaRPr>
                    </a:p>
                  </a:txBody>
                  <a:tcPr marL="91449" marR="91449" marT="45724" marB="45724"/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200" b="1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sh</a:t>
                      </a:r>
                      <a:r>
                        <a:rPr lang="ru-RU" sz="12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 = MAX_SH</a:t>
                      </a:r>
                      <a:endParaRPr sz="12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2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сдвинуть только </a:t>
                      </a:r>
                      <a:r>
                        <a:rPr lang="ru-RU" sz="1200" b="1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253" name="Google Shape;253;p19"/>
          <p:cNvSpPr txBox="1"/>
          <p:nvPr/>
        </p:nvSpPr>
        <p:spPr bwMode="auto">
          <a:xfrm>
            <a:off x="6433894" y="4221297"/>
            <a:ext cx="4187700" cy="3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200" b="1">
                <a:solidFill>
                  <a:schemeClr val="dk1"/>
                </a:solidFill>
              </a:rPr>
              <a:t>Таблица переходов динамики</a:t>
            </a:r>
            <a:endParaRPr sz="1200" b="1">
              <a:solidFill>
                <a:schemeClr val="dk1"/>
              </a:solidFill>
            </a:endParaRPr>
          </a:p>
        </p:txBody>
      </p:sp>
      <p:pic>
        <p:nvPicPr>
          <p:cNvPr id="889295869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25504" y="4619625"/>
            <a:ext cx="3597391" cy="2055651"/>
          </a:xfrm>
          <a:prstGeom prst="rect">
            <a:avLst/>
          </a:prstGeom>
        </p:spPr>
      </p:pic>
      <p:pic>
        <p:nvPicPr>
          <p:cNvPr id="136448244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938146" y="4594089"/>
            <a:ext cx="3642080" cy="20811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8" name="Google Shape;258;p20"/>
          <p:cNvSpPr txBox="1"/>
          <p:nvPr>
            <p:ph type="body" idx="3"/>
          </p:nvPr>
        </p:nvSpPr>
        <p:spPr bwMode="auto"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pPr>
            <a:r>
              <a:rPr lang="ru-RU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Школа информатики, физики и технологий</a:t>
            </a:r>
            <a:endParaRPr sz="1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pPr>
            <a:endParaRPr/>
          </a:p>
        </p:txBody>
      </p:sp>
      <p:sp>
        <p:nvSpPr>
          <p:cNvPr id="259" name="Google Shape;259;p20"/>
          <p:cNvSpPr txBox="1"/>
          <p:nvPr>
            <p:ph type="body" idx="4"/>
          </p:nvPr>
        </p:nvSpPr>
        <p:spPr bwMode="auto"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/>
            </a:pPr>
            <a:r>
              <a:rPr lang="ru-RU"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</a:rPr>
              <a:t>DP с окнами для константы Чватала-Санкоффа</a:t>
            </a:r>
            <a:endParaRPr sz="1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/>
            </a:pPr>
            <a:endParaRPr/>
          </a:p>
        </p:txBody>
      </p:sp>
      <p:sp>
        <p:nvSpPr>
          <p:cNvPr id="260" name="Google Shape;260;p20"/>
          <p:cNvSpPr txBox="1"/>
          <p:nvPr>
            <p:ph type="body" idx="5"/>
          </p:nvPr>
        </p:nvSpPr>
        <p:spPr bwMode="auto">
          <a:xfrm>
            <a:off x="585896" y="1041278"/>
            <a:ext cx="4599841" cy="408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2400"/>
              <a:buNone/>
              <a:defRPr/>
            </a:pPr>
            <a:r>
              <a:rPr lang="ru-RU" sz="2400" b="0" i="0" u="none" strike="noStrike" cap="none" spc="0">
                <a:solidFill>
                  <a:srgbClr val="0E2D69"/>
                </a:solidFill>
                <a:latin typeface="Arial"/>
                <a:ea typeface="Arial"/>
                <a:cs typeface="Arial"/>
              </a:rPr>
              <a:t>Реализация и оптимизации</a:t>
            </a:r>
            <a:endParaRPr sz="2400"/>
          </a:p>
        </p:txBody>
      </p:sp>
      <p:sp>
        <p:nvSpPr>
          <p:cNvPr id="261" name="Google Shape;261;p20"/>
          <p:cNvSpPr txBox="1"/>
          <p:nvPr/>
        </p:nvSpPr>
        <p:spPr bwMode="auto">
          <a:xfrm>
            <a:off x="6400800" y="137160"/>
            <a:ext cx="183636" cy="366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2" name="Google Shape;262;p20"/>
          <p:cNvSpPr txBox="1"/>
          <p:nvPr/>
        </p:nvSpPr>
        <p:spPr bwMode="auto">
          <a:xfrm>
            <a:off x="8412480" y="91440"/>
            <a:ext cx="183636" cy="305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3" name="Google Shape;263;p20"/>
          <p:cNvSpPr txBox="1"/>
          <p:nvPr/>
        </p:nvSpPr>
        <p:spPr bwMode="auto">
          <a:xfrm flipH="0" flipV="0">
            <a:off x="585895" y="1904293"/>
            <a:ext cx="5643982" cy="49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-RU" sz="1200" b="1">
                <a:solidFill>
                  <a:srgbClr val="0F2C68"/>
                </a:solidFill>
              </a:rPr>
              <a:t>Вычислительные оптимизации:</a:t>
            </a:r>
            <a:endParaRPr sz="1200" b="1">
              <a:solidFill>
                <a:srgbClr val="0F2C68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-RU" sz="1200">
                <a:solidFill>
                  <a:srgbClr val="0F2C68"/>
                </a:solidFill>
              </a:rPr>
              <a:t>1. </a:t>
            </a:r>
            <a:r>
              <a:rPr lang="ru-RU" sz="1200" b="1" i="0" u="none" strike="noStrike" cap="none" spc="0">
                <a:solidFill>
                  <a:srgbClr val="0F2C68"/>
                </a:solidFill>
                <a:latin typeface="Arial"/>
                <a:ea typeface="Arial"/>
                <a:cs typeface="Arial"/>
              </a:rPr>
              <a:t>Итеративный обход вместо рекурсии</a:t>
            </a:r>
            <a:endParaRPr sz="1200">
              <a:solidFill>
                <a:srgbClr val="0F2C68"/>
              </a:solidFill>
            </a:endParaRPr>
          </a:p>
          <a:p>
            <a:pPr marL="457200" lvl="0" indent="-30480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rgbClr val="0F2C68"/>
              </a:buClr>
              <a:buSzPts val="1200"/>
              <a:buChar char="●"/>
              <a:defRPr/>
            </a:pPr>
            <a:r>
              <a:rPr lang="ru-RU" sz="1200" b="0" i="0" u="none" strike="noStrike" cap="none" spc="0">
                <a:solidFill>
                  <a:srgbClr val="0F2C68"/>
                </a:solidFill>
                <a:latin typeface="Arial"/>
                <a:ea typeface="Arial"/>
                <a:cs typeface="Arial"/>
              </a:rPr>
              <a:t>Нет накладных расходов на вызовы</a:t>
            </a:r>
            <a:endParaRPr sz="1200">
              <a:solidFill>
                <a:srgbClr val="0F2C68"/>
              </a:solidFill>
            </a:endParaRPr>
          </a:p>
          <a:p>
            <a:pPr marL="457200" lvl="0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Char char="●"/>
              <a:defRPr/>
            </a:pPr>
            <a:r>
              <a:rPr lang="ru-RU" sz="1200">
                <a:solidFill>
                  <a:srgbClr val="0F2C68"/>
                </a:solidFill>
              </a:rPr>
              <a:t>Можно не хранить все слои динамики</a:t>
            </a:r>
            <a:endParaRPr sz="1200">
              <a:solidFill>
                <a:srgbClr val="0F2C68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-RU" sz="1200">
                <a:solidFill>
                  <a:srgbClr val="0F2C68"/>
                </a:solidFill>
              </a:rPr>
              <a:t>2. </a:t>
            </a:r>
            <a:r>
              <a:rPr lang="ru-RU" sz="1200" b="1">
                <a:solidFill>
                  <a:srgbClr val="0F2C68"/>
                </a:solidFill>
              </a:rPr>
              <a:t>Оптимизации компилятора:</a:t>
            </a:r>
            <a:endParaRPr sz="1200" b="1">
              <a:solidFill>
                <a:srgbClr val="0F2C68"/>
              </a:solidFill>
            </a:endParaRPr>
          </a:p>
          <a:p>
            <a:pPr marL="457200" lvl="0" indent="-30480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rgbClr val="0F2C68"/>
              </a:buClr>
              <a:buSzPts val="1200"/>
              <a:buChar char="●"/>
              <a:defRPr/>
            </a:pPr>
            <a:r>
              <a:rPr lang="ru-RU" sz="1200" b="0" i="0" u="none" strike="noStrike" cap="none" spc="0">
                <a:solidFill>
                  <a:srgbClr val="0F2C68"/>
                </a:solidFill>
                <a:latin typeface="Arial"/>
                <a:ea typeface="Arial"/>
                <a:cs typeface="Arial"/>
              </a:rPr>
              <a:t>-Ofast -funroll-loops -fast-math</a:t>
            </a:r>
            <a:endParaRPr sz="1200">
              <a:solidFill>
                <a:srgbClr val="0F2C68"/>
              </a:solidFill>
            </a:endParaRPr>
          </a:p>
          <a:p>
            <a:pPr marL="457200" lvl="0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Char char="●"/>
              <a:defRPr/>
            </a:pPr>
            <a:r>
              <a:rPr lang="ru-RU" sz="1200" b="0" i="0" u="none" strike="noStrike" cap="none" spc="0">
                <a:solidFill>
                  <a:srgbClr val="0F2C68"/>
                </a:solidFill>
                <a:latin typeface="Arial"/>
                <a:ea typeface="Arial"/>
                <a:cs typeface="Arial"/>
              </a:rPr>
              <a:t>AVX2 + BMI/BMI2</a:t>
            </a:r>
            <a:endParaRPr lang="ru-RU" sz="1200" b="0" i="0" u="none" strike="noStrike" cap="none" spc="0">
              <a:solidFill>
                <a:srgbClr val="0F2C68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lnSpc>
                <a:spcPct val="114999"/>
              </a:lnSpc>
              <a:spcBef>
                <a:spcPts val="1199"/>
              </a:spcBef>
              <a:spcAft>
                <a:spcPts val="0"/>
              </a:spcAft>
              <a:buNone/>
              <a:defRPr/>
            </a:pPr>
            <a:r>
              <a:rPr lang="ru-RU" sz="1200" b="0" i="0" u="none" strike="noStrike" cap="none" spc="0">
                <a:solidFill>
                  <a:srgbClr val="0F2C68"/>
                </a:solidFill>
                <a:latin typeface="Arial"/>
                <a:ea typeface="Arial"/>
                <a:cs typeface="Arial"/>
              </a:rPr>
              <a:t>3. </a:t>
            </a:r>
            <a:r>
              <a:rPr lang="ru-RU" sz="1200" b="1" i="0" u="none" strike="noStrike" cap="none" spc="0">
                <a:solidFill>
                  <a:srgbClr val="0F2C68"/>
                </a:solidFill>
                <a:latin typeface="Arial"/>
                <a:ea typeface="Arial"/>
                <a:cs typeface="Arial"/>
              </a:rPr>
              <a:t>float вместо double</a:t>
            </a:r>
            <a:r>
              <a:rPr lang="ru-RU" sz="1200" b="1" i="0" u="none" strike="noStrike" cap="none" spc="0">
                <a:solidFill>
                  <a:srgbClr val="0F2C68"/>
                </a:solidFill>
                <a:latin typeface="Arial"/>
                <a:ea typeface="Arial"/>
                <a:cs typeface="Arial"/>
              </a:rPr>
              <a:t>:</a:t>
            </a:r>
            <a:endParaRPr sz="1200" b="1">
              <a:solidFill>
                <a:srgbClr val="0F2C68"/>
              </a:solidFill>
            </a:endParaRPr>
          </a:p>
          <a:p>
            <a:pPr marL="457200" lvl="0" indent="-304799" algn="l">
              <a:lnSpc>
                <a:spcPct val="114999"/>
              </a:lnSpc>
              <a:spcBef>
                <a:spcPts val="1199"/>
              </a:spcBef>
              <a:spcAft>
                <a:spcPts val="0"/>
              </a:spcAft>
              <a:buClr>
                <a:srgbClr val="0F2C68"/>
              </a:buClr>
              <a:buSzPts val="1200"/>
              <a:buChar char="●"/>
              <a:defRPr/>
            </a:pPr>
            <a:r>
              <a:rPr lang="ru-RU" sz="1200" b="0" i="0" u="none" strike="noStrike" cap="none" spc="0">
                <a:solidFill>
                  <a:srgbClr val="0F2C68"/>
                </a:solidFill>
                <a:latin typeface="Arial"/>
                <a:ea typeface="Arial"/>
                <a:cs typeface="Arial"/>
              </a:rPr>
              <a:t>вдвое меньше памяти, плотнее в AVX2-регистрах</a:t>
            </a:r>
            <a:endParaRPr sz="1200">
              <a:solidFill>
                <a:srgbClr val="0F2C68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-RU" sz="1200">
                <a:solidFill>
                  <a:srgbClr val="0F2C68"/>
                </a:solidFill>
              </a:rPr>
              <a:t>4. </a:t>
            </a:r>
            <a:r>
              <a:rPr lang="ru-RU" sz="1200" b="1" i="0" u="none" strike="noStrike" cap="none" spc="0">
                <a:solidFill>
                  <a:srgbClr val="0F2C68"/>
                </a:solidFill>
                <a:latin typeface="Arial"/>
                <a:ea typeface="Arial"/>
                <a:cs typeface="Arial"/>
              </a:rPr>
              <a:t>memcpy для граничных слоёв</a:t>
            </a:r>
            <a:endParaRPr sz="1200" b="1">
              <a:solidFill>
                <a:srgbClr val="0F2C68"/>
              </a:solidFill>
            </a:endParaRPr>
          </a:p>
          <a:p>
            <a:pPr marL="457200" lvl="0" indent="-30480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rgbClr val="0F2C68"/>
              </a:buClr>
              <a:buSzPts val="1200"/>
              <a:buChar char="●"/>
              <a:defRPr/>
            </a:pPr>
            <a:r>
              <a:rPr lang="ru-RU" sz="1200" b="0" i="0" u="none" strike="noStrike" cap="none" spc="0">
                <a:solidFill>
                  <a:srgbClr val="0F2C68"/>
                </a:solidFill>
                <a:latin typeface="Arial"/>
                <a:ea typeface="Arial"/>
                <a:cs typeface="Arial"/>
              </a:rPr>
              <a:t>избавляет от ветвлений на каждой итерации.</a:t>
            </a:r>
            <a:endParaRPr sz="1200">
              <a:solidFill>
                <a:srgbClr val="0F2C68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br>
              <a:rPr lang="ru-RU" sz="1000">
                <a:solidFill>
                  <a:srgbClr val="0F2C68"/>
                </a:solidFill>
                <a:latin typeface="Calibri"/>
                <a:ea typeface="Calibri"/>
                <a:cs typeface="Calibri"/>
              </a:rPr>
            </a:br>
            <a:r>
              <a:rPr lang="ru-RU" sz="1000">
                <a:solidFill>
                  <a:srgbClr val="0F2C68"/>
                </a:solidFill>
                <a:latin typeface="Calibri"/>
                <a:ea typeface="Calibri"/>
                <a:cs typeface="Calibri"/>
              </a:rPr>
              <a:t> </a:t>
            </a:r>
            <a:endParaRPr sz="1200" b="1">
              <a:solidFill>
                <a:srgbClr val="0F2C68"/>
              </a:solidFill>
            </a:endParaRPr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None/>
              <a:defRPr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000" b="1">
              <a:solidFill>
                <a:srgbClr val="0F2C6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5" name="Google Shape;265;p20"/>
          <p:cNvSpPr txBox="1"/>
          <p:nvPr/>
        </p:nvSpPr>
        <p:spPr bwMode="auto">
          <a:xfrm>
            <a:off x="6400800" y="406425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ru-RU" sz="1000">
                <a:solidFill>
                  <a:srgbClr val="0E2D69"/>
                </a:solidFill>
              </a:rPr>
              <a:t>Прикладная математика и информатика</a:t>
            </a:r>
            <a:br>
              <a:rPr lang="ru-RU" sz="1000">
                <a:solidFill>
                  <a:srgbClr val="0E2D69"/>
                </a:solidFill>
              </a:rPr>
            </a:br>
            <a:r>
              <a:rPr lang="ru-RU" sz="1000">
                <a:solidFill>
                  <a:srgbClr val="0E2D69"/>
                </a:solidFill>
              </a:rPr>
              <a:t>Санкт-Петербург, 2025</a:t>
            </a:r>
            <a:br>
              <a:rPr lang="ru-RU" sz="1000">
                <a:solidFill>
                  <a:srgbClr val="0E2D69"/>
                </a:solidFill>
              </a:rPr>
            </a:br>
            <a:r>
              <a:rPr lang="ru-RU" sz="1000">
                <a:solidFill>
                  <a:srgbClr val="0E2D69"/>
                </a:solidFill>
              </a:rPr>
              <a:t>Юкачев Дмитрий Евгеньевич</a:t>
            </a:r>
            <a:endParaRPr/>
          </a:p>
        </p:txBody>
      </p:sp>
      <p:sp>
        <p:nvSpPr>
          <p:cNvPr id="2040483763" name=""/>
          <p:cNvSpPr txBox="1"/>
          <p:nvPr/>
        </p:nvSpPr>
        <p:spPr bwMode="auto">
          <a:xfrm flipH="0" flipV="0">
            <a:off x="6095999" y="5769119"/>
            <a:ext cx="56295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200" b="1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Сложность: Время </a:t>
            </a:r>
            <a:r>
              <a:rPr lang="ru-RU" sz="12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O(K · MAX_SH · </a:t>
            </a:r>
            <a:r>
              <a:rPr lang="ru-RU" sz="12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σ</a:t>
            </a:r>
            <a:r>
              <a:rPr lang="ru-RU" sz="12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^(2N))</a:t>
            </a:r>
            <a:r>
              <a:rPr lang="ru-RU" sz="1200" b="1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, Память </a:t>
            </a:r>
            <a:r>
              <a:rPr lang="ru-RU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O(</a:t>
            </a:r>
            <a:r>
              <a:rPr lang="ru-RU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MAX_SH · </a:t>
            </a:r>
            <a:r>
              <a:rPr lang="ru-RU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σ</a:t>
            </a:r>
            <a:r>
              <a:rPr lang="ru-RU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^(2N))</a:t>
            </a:r>
            <a:endParaRPr sz="1200"/>
          </a:p>
        </p:txBody>
      </p:sp>
      <p:graphicFrame>
        <p:nvGraphicFramePr>
          <p:cNvPr id="864788139" name=""/>
          <p:cNvGraphicFramePr>
            <a:graphicFrameLocks xmlns:a="http://schemas.openxmlformats.org/drawingml/2006/main"/>
          </p:cNvGraphicFramePr>
          <p:nvPr/>
        </p:nvGraphicFramePr>
        <p:xfrm>
          <a:off x="7205806" y="1904293"/>
          <a:ext cx="3497262" cy="287781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{0331C930-ED13-413F-9697-A6BCCBE4ACE2}</a:tableStyleId>
              </a:tblPr>
              <a:tblGrid>
                <a:gridCol w="1742281"/>
                <a:gridCol w="1742281"/>
              </a:tblGrid>
              <a:tr h="3048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1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Параметр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1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Значение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N (размер окна)</a:t>
                      </a:r>
                      <a:endParaRPr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b="0"/>
                        <a:t>12</a:t>
                      </a:r>
                      <a:endParaRPr b="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MAX_SH (макс. сдвиг)</a:t>
                      </a:r>
                      <a:endParaRPr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b="0"/>
                        <a:t>30</a:t>
                      </a:r>
                      <a:endParaRPr b="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K (число шагов)</a:t>
                      </a:r>
                      <a:endParaRPr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b="0"/>
                        <a:t>40000</a:t>
                      </a:r>
                      <a:endParaRPr b="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Пар масок на слой</a:t>
                      </a:r>
                      <a:endParaRPr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2²⁴ ≈ 16.8 млн</a:t>
                      </a:r>
                      <a:endParaRPr b="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Память</a:t>
                      </a:r>
                      <a:endParaRPr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≈ 2 ГБ</a:t>
                      </a:r>
                      <a:endParaRPr b="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Время счёта</a:t>
                      </a:r>
                      <a:endParaRPr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≈ 5 часов, одно ядро</a:t>
                      </a:r>
                      <a:endParaRPr b="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1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1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γ₂ ≥ 0.7964</a:t>
                      </a:r>
                      <a:endParaRPr b="1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5228641" name="Google Shape;29;p3"/>
          <p:cNvSpPr txBox="1"/>
          <p:nvPr>
            <p:ph type="title"/>
          </p:nvPr>
        </p:nvSpPr>
        <p:spPr bwMode="auto">
          <a:xfrm flipH="0" flipV="0">
            <a:off x="585897" y="1447789"/>
            <a:ext cx="10555556" cy="777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Универсальность метода: рекорды для σ = 2,…,10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/>
          </a:p>
        </p:txBody>
      </p:sp>
      <p:sp>
        <p:nvSpPr>
          <p:cNvPr id="215215006" name="Google Shape;31;p3"/>
          <p:cNvSpPr txBox="1"/>
          <p:nvPr>
            <p:ph type="body" idx="3"/>
          </p:nvPr>
        </p:nvSpPr>
        <p:spPr bwMode="auto">
          <a:xfrm>
            <a:off x="1143688" y="540903"/>
            <a:ext cx="1901824" cy="415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pPr>
            <a:r>
              <a:rPr lang="ru-RU" sz="1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Школа информатики, физики и технологий</a:t>
            </a:r>
            <a:endParaRPr sz="1000"/>
          </a:p>
          <a:p>
            <a:pPr>
              <a:defRPr/>
            </a:pPr>
            <a:endParaRPr/>
          </a:p>
        </p:txBody>
      </p:sp>
      <p:sp>
        <p:nvSpPr>
          <p:cNvPr id="1415909842" name="Google Shape;32;p3"/>
          <p:cNvSpPr txBox="1"/>
          <p:nvPr>
            <p:ph type="body" idx="4"/>
          </p:nvPr>
        </p:nvSpPr>
        <p:spPr bwMode="auto">
          <a:xfrm>
            <a:off x="3459162" y="548719"/>
            <a:ext cx="2070099" cy="408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/>
            </a:pPr>
            <a:r>
              <a:rPr lang="ru-RU" sz="1000" b="0" i="0" u="none" strike="noStrike" cap="none" spc="0">
                <a:solidFill>
                  <a:srgbClr val="0E2D69"/>
                </a:solidFill>
                <a:latin typeface="Arial"/>
                <a:ea typeface="Arial"/>
                <a:cs typeface="Arial"/>
              </a:rPr>
              <a:t>DP с окнами для константы Чватала-Санкоффа</a:t>
            </a:r>
            <a:endParaRPr sz="1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/>
            </a:pPr>
            <a:endParaRPr sz="1000"/>
          </a:p>
          <a:p>
            <a:pPr>
              <a:defRPr/>
            </a:pPr>
            <a:endParaRPr/>
          </a:p>
        </p:txBody>
      </p:sp>
      <p:sp>
        <p:nvSpPr>
          <p:cNvPr id="1804823018" name="Google Shape;33;p3"/>
          <p:cNvSpPr txBox="1"/>
          <p:nvPr>
            <p:ph type="body" idx="5"/>
          </p:nvPr>
        </p:nvSpPr>
        <p:spPr bwMode="auto">
          <a:xfrm>
            <a:off x="6259890" y="548719"/>
            <a:ext cx="2070099" cy="408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3604236" name="Google Shape;274;p21"/>
          <p:cNvSpPr txBox="1"/>
          <p:nvPr/>
        </p:nvSpPr>
        <p:spPr bwMode="auto">
          <a:xfrm>
            <a:off x="6400800" y="406424"/>
            <a:ext cx="3000359" cy="708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91423" rIns="91423" bIns="91423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199"/>
              </a:spcBef>
              <a:spcAft>
                <a:spcPts val="1199"/>
              </a:spcAft>
              <a:buNone/>
              <a:defRPr/>
            </a:pPr>
            <a:r>
              <a:rPr lang="ru-RU" sz="1000">
                <a:solidFill>
                  <a:srgbClr val="0E2D69"/>
                </a:solidFill>
              </a:rPr>
              <a:t>Прикладная математика и информатика</a:t>
            </a:r>
            <a:br>
              <a:rPr lang="ru-RU" sz="1000">
                <a:solidFill>
                  <a:srgbClr val="0E2D69"/>
                </a:solidFill>
              </a:rPr>
            </a:br>
            <a:r>
              <a:rPr lang="ru-RU" sz="1000">
                <a:solidFill>
                  <a:srgbClr val="0E2D69"/>
                </a:solidFill>
              </a:rPr>
              <a:t>Санкт-Петербург, 2025</a:t>
            </a:r>
            <a:br>
              <a:rPr lang="ru-RU" sz="1000">
                <a:solidFill>
                  <a:srgbClr val="0E2D69"/>
                </a:solidFill>
              </a:rPr>
            </a:br>
            <a:r>
              <a:rPr lang="ru-RU" sz="1000">
                <a:solidFill>
                  <a:srgbClr val="0E2D69"/>
                </a:solidFill>
              </a:rPr>
              <a:t>Юкачев Дмитрий Евгеньевич</a:t>
            </a:r>
            <a:endParaRPr/>
          </a:p>
        </p:txBody>
      </p:sp>
      <p:sp>
        <p:nvSpPr>
          <p:cNvPr id="1328910175" name=""/>
          <p:cNvSpPr/>
          <p:nvPr/>
        </p:nvSpPr>
        <p:spPr bwMode="auto">
          <a:xfrm flipH="0" flipV="0">
            <a:off x="692237" y="1982845"/>
            <a:ext cx="11188048" cy="8842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3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Метод применим к произвольному размеру алфавита σ.</a:t>
            </a:r>
            <a:r>
              <a:rPr sz="13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br>
              <a:rPr sz="13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endParaRPr sz="1300" b="0" i="0" u="none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sz="13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Для всех σ</a:t>
            </a:r>
            <a:r>
              <a:rPr sz="13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∈</a:t>
            </a:r>
            <a:r>
              <a:rPr sz="13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{2,…,10}</a:t>
            </a:r>
            <a:r>
              <a:rPr sz="13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получены новые рекордные нижние оценки,</a:t>
            </a:r>
            <a:r>
              <a:rPr sz="13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верифицированные методом</a:t>
            </a:r>
            <a:r>
              <a:rPr sz="13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Monte-Carlo</a:t>
            </a:r>
            <a:r>
              <a:rPr sz="13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—</a:t>
            </a:r>
            <a:r>
              <a:rPr sz="13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независимой проверкой</a:t>
            </a:r>
            <a:r>
              <a:rPr sz="13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:</a:t>
            </a:r>
            <a:r>
              <a:rPr sz="13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endParaRPr sz="1300" b="0" i="0" u="none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sz="13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генерируем пары случайных строк,</a:t>
            </a:r>
            <a:r>
              <a:rPr sz="13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считаем точный LCS,</a:t>
            </a:r>
            <a:r>
              <a:rPr sz="13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усредняем по 500 испытаниям.</a:t>
            </a:r>
            <a:endParaRPr sz="1300" b="0" i="0" u="none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894516259" name=""/>
          <p:cNvGraphicFramePr>
            <a:graphicFrameLocks xmlns:a="http://schemas.openxmlformats.org/drawingml/2006/main"/>
          </p:cNvGraphicFramePr>
          <p:nvPr/>
        </p:nvGraphicFramePr>
        <p:xfrm>
          <a:off x="1737412" y="2961743"/>
          <a:ext cx="8140699" cy="3190224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{0331C930-ED13-413F-9697-A6BCCBE4ACE2}</a:tableStyleId>
              </a:tblPr>
              <a:tblGrid>
                <a:gridCol w="580064"/>
                <a:gridCol w="1242995"/>
                <a:gridCol w="1776940"/>
                <a:gridCol w="1350000"/>
                <a:gridCol w="1260000"/>
                <a:gridCol w="1273750"/>
              </a:tblGrid>
              <a:tr h="390948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σ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Heineman 2024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Данная работа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Прирост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Monte-Carlo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Зазор до MC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  <a:tr h="353603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0.79266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0.7964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+0.48 %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≈ 0.811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≈ 0.015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  <a:tr h="271383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0.6822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0.6834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+0.17 %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≈ 0.716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≈ 0.032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  <a:tr h="271383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0.6143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0.6230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+1.42 %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≈ 0.653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≈ 0.030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  <a:tr h="271383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0.5498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0.5576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+1.42 %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≈ 0.606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≈ 0.048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  <a:tr h="271383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0.4992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0.5198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+4.12 %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≈ 0.567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≈ 0.047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  <a:tr h="271383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0.4665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0.4893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+4.89 %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≈ 0.535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≈ 0.046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  <a:tr h="271383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0.4388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0.4626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+5.42 %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≈ 0.507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≈ 0.044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  <a:tr h="271383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0.4149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0.4363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+5.17 %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≈ 0.482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≈ 0.046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  <a:tr h="271383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0.3938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0.4132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+4.93 %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≈ 0.461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≈ 0.048</a:t>
                      </a:r>
                      <a:endParaRPr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0" name="Google Shape;270;p21"/>
          <p:cNvSpPr txBox="1"/>
          <p:nvPr>
            <p:ph type="title"/>
          </p:nvPr>
        </p:nvSpPr>
        <p:spPr bwMode="auto">
          <a:xfrm>
            <a:off x="515937" y="1227727"/>
            <a:ext cx="6369147" cy="777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rmAutofit/>
          </a:bodyPr>
          <a:lstStyle/>
          <a:p>
            <a: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Направления дальнейших исследований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1" name="Google Shape;271;p21"/>
          <p:cNvSpPr txBox="1"/>
          <p:nvPr>
            <p:ph type="body" idx="3"/>
          </p:nvPr>
        </p:nvSpPr>
        <p:spPr bwMode="auto"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pPr>
            <a:r>
              <a:rPr lang="ru-RU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Школа информатики, физики и технологий</a:t>
            </a:r>
            <a:endParaRPr sz="1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pPr>
            <a:endParaRPr/>
          </a:p>
        </p:txBody>
      </p:sp>
      <p:sp>
        <p:nvSpPr>
          <p:cNvPr id="272" name="Google Shape;272;p21"/>
          <p:cNvSpPr txBox="1"/>
          <p:nvPr>
            <p:ph type="body" idx="4"/>
          </p:nvPr>
        </p:nvSpPr>
        <p:spPr bwMode="auto"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/>
            </a:pPr>
            <a:r>
              <a:rPr lang="ru-RU"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</a:rPr>
              <a:t>DP с окнами для константы Чватала-Санкоффа</a:t>
            </a:r>
            <a:endParaRPr sz="1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/>
            </a:pPr>
            <a:endParaRPr/>
          </a:p>
        </p:txBody>
      </p:sp>
      <p:sp>
        <p:nvSpPr>
          <p:cNvPr id="273" name="Google Shape;273;p21"/>
          <p:cNvSpPr txBox="1"/>
          <p:nvPr/>
        </p:nvSpPr>
        <p:spPr bwMode="auto">
          <a:xfrm>
            <a:off x="6400800" y="137160"/>
            <a:ext cx="183636" cy="366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4" name="Google Shape;274;p21"/>
          <p:cNvSpPr txBox="1"/>
          <p:nvPr/>
        </p:nvSpPr>
        <p:spPr bwMode="auto">
          <a:xfrm>
            <a:off x="6400800" y="406425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ru-RU" sz="1000">
                <a:solidFill>
                  <a:srgbClr val="0E2D69"/>
                </a:solidFill>
              </a:rPr>
              <a:t>Прикладная математика и информатика</a:t>
            </a:r>
            <a:br>
              <a:rPr lang="ru-RU" sz="1000">
                <a:solidFill>
                  <a:srgbClr val="0E2D69"/>
                </a:solidFill>
              </a:rPr>
            </a:br>
            <a:r>
              <a:rPr lang="ru-RU" sz="1000">
                <a:solidFill>
                  <a:srgbClr val="0E2D69"/>
                </a:solidFill>
              </a:rPr>
              <a:t>Санкт-Петербург, 2025</a:t>
            </a:r>
            <a:br>
              <a:rPr lang="ru-RU" sz="1000">
                <a:solidFill>
                  <a:srgbClr val="0E2D69"/>
                </a:solidFill>
              </a:rPr>
            </a:br>
            <a:r>
              <a:rPr lang="ru-RU" sz="1000">
                <a:solidFill>
                  <a:srgbClr val="0E2D69"/>
                </a:solidFill>
              </a:rPr>
              <a:t>Юкачев Дмитрий Евгеньевич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 bwMode="auto">
          <a:xfrm>
            <a:off x="520775" y="1865125"/>
            <a:ext cx="8163900" cy="4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-RU" sz="1400" b="1">
                <a:solidFill>
                  <a:srgbClr val="0F2C68"/>
                </a:solidFill>
              </a:rPr>
              <a:t>Возможные улучшения:</a:t>
            </a:r>
            <a:endParaRPr sz="1400" b="1">
              <a:solidFill>
                <a:srgbClr val="0F2C68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-RU" sz="1400" b="1">
                <a:solidFill>
                  <a:srgbClr val="0F2C68"/>
                </a:solidFill>
              </a:rPr>
              <a:t>1. </a:t>
            </a:r>
            <a:r>
              <a:rPr lang="ru-RU" sz="1400" b="1" i="0" u="none" strike="noStrike" cap="none" spc="0">
                <a:solidFill>
                  <a:srgbClr val="0F2C68"/>
                </a:solidFill>
                <a:latin typeface="Arial"/>
                <a:ea typeface="Arial"/>
                <a:cs typeface="Arial"/>
              </a:rPr>
              <a:t>Увеличение параметров (σ=2): </a:t>
            </a:r>
            <a:r>
              <a:rPr lang="ru-RU" sz="1400" b="0" i="0" u="none" strike="noStrike" cap="none" spc="0">
                <a:solidFill>
                  <a:srgbClr val="0F2C68"/>
                </a:solidFill>
                <a:latin typeface="Arial"/>
                <a:ea typeface="Arial"/>
                <a:cs typeface="Arial"/>
              </a:rPr>
              <a:t>переход к N=13, MAX_SH=40 требует ≈8 ГБ и ≈20 ч на ядро.</a:t>
            </a:r>
            <a:br>
              <a:rPr lang="ru-RU" sz="1400" b="0" i="0" u="none" strike="noStrike" cap="none" spc="0">
                <a:solidFill>
                  <a:srgbClr val="0F2C68"/>
                </a:solidFill>
                <a:latin typeface="Arial"/>
                <a:ea typeface="Arial"/>
                <a:cs typeface="Arial"/>
              </a:rPr>
            </a:br>
            <a:r>
              <a:rPr lang="ru-RU" sz="1400" b="0" i="0" u="none" strike="noStrike" cap="none" spc="0">
                <a:solidFill>
                  <a:srgbClr val="0F2C68"/>
                </a:solidFill>
                <a:latin typeface="Arial"/>
                <a:ea typeface="Arial"/>
                <a:cs typeface="Arial"/>
              </a:rPr>
              <a:t> Ожидаемая оценка ~ 0.80.</a:t>
            </a:r>
            <a:endParaRPr sz="1400" b="0" i="0" u="none" strike="noStrike" cap="none" spc="0">
              <a:solidFill>
                <a:srgbClr val="0F2C68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-RU" sz="1400" b="1">
                <a:solidFill>
                  <a:srgbClr val="0F2C68"/>
                </a:solidFill>
              </a:rPr>
              <a:t>2. </a:t>
            </a:r>
            <a:r>
              <a:rPr lang="ru-RU" sz="1400" b="1" i="0" u="none" strike="noStrike" cap="none" spc="0">
                <a:solidFill>
                  <a:srgbClr val="0F2C68"/>
                </a:solidFill>
                <a:latin typeface="Arial"/>
                <a:ea typeface="Arial"/>
                <a:cs typeface="Arial"/>
              </a:rPr>
              <a:t>Параллелизация: </a:t>
            </a:r>
            <a:r>
              <a:rPr lang="ru-RU" sz="1400" b="0" i="0" u="none" strike="noStrike" cap="none" spc="0">
                <a:solidFill>
                  <a:srgbClr val="0F2C68"/>
                </a:solidFill>
                <a:latin typeface="Arial"/>
                <a:ea typeface="Arial"/>
                <a:cs typeface="Arial"/>
              </a:rPr>
              <a:t>внутренний цикл по парам масок тривиально распараллеливается. На 16-ядерном сервере — ожидаемое ускорение ≈12–14×.</a:t>
            </a:r>
            <a:endParaRPr sz="1400" b="0">
              <a:solidFill>
                <a:srgbClr val="0F2C68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-RU" sz="1400" b="1">
                <a:solidFill>
                  <a:srgbClr val="0F2C68"/>
                </a:solidFill>
              </a:rPr>
              <a:t>3. </a:t>
            </a:r>
            <a:r>
              <a:rPr lang="ru-RU" sz="1400" b="1" i="0" u="none" strike="noStrike" cap="none" spc="0">
                <a:solidFill>
                  <a:srgbClr val="0F2C68"/>
                </a:solidFill>
                <a:latin typeface="Arial"/>
                <a:ea typeface="Arial"/>
                <a:cs typeface="Arial"/>
              </a:rPr>
              <a:t>Обобщение на d &gt; 2 строк: </a:t>
            </a:r>
            <a:r>
              <a:rPr lang="ru-RU" sz="1400" b="0" i="0" u="none" strike="noStrike" cap="none" spc="0">
                <a:solidFill>
                  <a:srgbClr val="0F2C68"/>
                </a:solidFill>
                <a:latin typeface="Arial"/>
                <a:ea typeface="Arial"/>
                <a:cs typeface="Arial"/>
              </a:rPr>
              <a:t>для d=3, σ=2 практический предел N ≤ 6, MAX_SH ≤ 15. Интересны многомерные константы γ_σ^(d).</a:t>
            </a:r>
            <a:endParaRPr sz="1400" b="0">
              <a:solidFill>
                <a:srgbClr val="0F2C68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-RU" sz="1400" b="1">
                <a:solidFill>
                  <a:srgbClr val="0F2C68"/>
                </a:solidFill>
              </a:rPr>
              <a:t>4. </a:t>
            </a:r>
            <a:r>
              <a:rPr lang="ru-RU" sz="1400" b="1" i="0" u="none" strike="noStrike" cap="none" spc="0">
                <a:solidFill>
                  <a:srgbClr val="0F2C68"/>
                </a:solidFill>
                <a:latin typeface="Arial"/>
                <a:ea typeface="Arial"/>
                <a:cs typeface="Arial"/>
              </a:rPr>
              <a:t>Несимметричные модели и взвешенный LCS: </a:t>
            </a:r>
            <a:r>
              <a:rPr lang="ru-RU" sz="1400" b="0" i="0" u="none" strike="noStrike" cap="none" spc="0">
                <a:solidFill>
                  <a:srgbClr val="0F2C68"/>
                </a:solidFill>
                <a:latin typeface="Arial"/>
                <a:ea typeface="Arial"/>
                <a:cs typeface="Arial"/>
              </a:rPr>
              <a:t>для биоинформатики (разные веса совпадений).</a:t>
            </a:r>
            <a:endParaRPr sz="1400" b="1">
              <a:solidFill>
                <a:srgbClr val="0F2C6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" name="Google Shape;280;p22"/>
          <p:cNvSpPr txBox="1"/>
          <p:nvPr>
            <p:ph type="title"/>
          </p:nvPr>
        </p:nvSpPr>
        <p:spPr bwMode="auto">
          <a:xfrm>
            <a:off x="585898" y="1447790"/>
            <a:ext cx="5245560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rmAutofit/>
          </a:bodyPr>
          <a:lstStyle/>
          <a:p>
            <a: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Основные источники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1" name="Google Shape;281;p22"/>
          <p:cNvSpPr txBox="1"/>
          <p:nvPr>
            <p:ph type="body" idx="3"/>
          </p:nvPr>
        </p:nvSpPr>
        <p:spPr bwMode="auto"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pPr>
            <a:r>
              <a:rPr lang="ru-RU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Школа информатики, физики и технологий</a:t>
            </a:r>
            <a:endParaRPr sz="1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pPr>
            <a:endParaRPr/>
          </a:p>
        </p:txBody>
      </p:sp>
      <p:sp>
        <p:nvSpPr>
          <p:cNvPr id="282" name="Google Shape;282;p22"/>
          <p:cNvSpPr txBox="1"/>
          <p:nvPr>
            <p:ph type="body" idx="4"/>
          </p:nvPr>
        </p:nvSpPr>
        <p:spPr bwMode="auto"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/>
            </a:pPr>
            <a:r>
              <a:rPr lang="ru-RU"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</a:rPr>
              <a:t>DP с окнами для константы Чватала-Санкоффа</a:t>
            </a:r>
            <a:endParaRPr sz="1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/>
            </a:pPr>
            <a:endParaRPr/>
          </a:p>
        </p:txBody>
      </p:sp>
      <p:sp>
        <p:nvSpPr>
          <p:cNvPr id="283" name="Google Shape;283;p22"/>
          <p:cNvSpPr txBox="1"/>
          <p:nvPr/>
        </p:nvSpPr>
        <p:spPr bwMode="auto">
          <a:xfrm>
            <a:off x="2743200" y="137160"/>
            <a:ext cx="183636" cy="366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4" name="Google Shape;284;p22"/>
          <p:cNvSpPr txBox="1"/>
          <p:nvPr/>
        </p:nvSpPr>
        <p:spPr bwMode="auto">
          <a:xfrm>
            <a:off x="6400800" y="137160"/>
            <a:ext cx="183636" cy="366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5" name="Google Shape;285;p22"/>
          <p:cNvSpPr txBox="1"/>
          <p:nvPr/>
        </p:nvSpPr>
        <p:spPr bwMode="auto">
          <a:xfrm>
            <a:off x="6400800" y="406425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ru-RU" sz="1000">
                <a:solidFill>
                  <a:srgbClr val="0E2D69"/>
                </a:solidFill>
              </a:rPr>
              <a:t>Прикладная математика и информатика</a:t>
            </a:r>
            <a:br>
              <a:rPr lang="ru-RU" sz="1000">
                <a:solidFill>
                  <a:srgbClr val="0E2D69"/>
                </a:solidFill>
              </a:rPr>
            </a:br>
            <a:r>
              <a:rPr lang="ru-RU" sz="1000">
                <a:solidFill>
                  <a:srgbClr val="0E2D69"/>
                </a:solidFill>
              </a:rPr>
              <a:t>Санкт-Петербург, 2025</a:t>
            </a:r>
            <a:br>
              <a:rPr lang="ru-RU" sz="1000">
                <a:solidFill>
                  <a:srgbClr val="0E2D69"/>
                </a:solidFill>
              </a:rPr>
            </a:br>
            <a:r>
              <a:rPr lang="ru-RU" sz="1000">
                <a:solidFill>
                  <a:srgbClr val="0E2D69"/>
                </a:solidFill>
              </a:rPr>
              <a:t>Юкачев Дмитрий Евгеньевич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 bwMode="auto">
          <a:xfrm flipH="0" flipV="0">
            <a:off x="625248" y="2110374"/>
            <a:ext cx="10782000" cy="408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-RU" sz="1400" b="1" i="0" u="none" strike="noStrike" cap="none" spc="0">
                <a:solidFill>
                  <a:srgbClr val="0F2C68"/>
                </a:solidFill>
                <a:latin typeface="Arial"/>
                <a:ea typeface="Arial"/>
                <a:cs typeface="Arial"/>
              </a:rPr>
              <a:t>Основные источники</a:t>
            </a:r>
            <a:r>
              <a:rPr lang="ru-RU" sz="1400" b="1">
                <a:solidFill>
                  <a:srgbClr val="0F2C68"/>
                </a:solidFill>
              </a:rPr>
              <a:t>:</a:t>
            </a:r>
            <a:endParaRPr sz="1400" b="1">
              <a:solidFill>
                <a:srgbClr val="0F2C68"/>
              </a:solidFill>
            </a:endParaRPr>
          </a:p>
          <a:p>
            <a:pPr marL="457200" lvl="0" indent="-30480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rgbClr val="0F2C68"/>
              </a:buClr>
              <a:buSzPts val="1200"/>
              <a:buChar char="●"/>
              <a:defRPr/>
            </a:pPr>
            <a:r>
              <a:rPr lang="ru-RU" sz="1400">
                <a:solidFill>
                  <a:srgbClr val="0F2C68"/>
                </a:solidFill>
              </a:rPr>
              <a:t>Chvátal, V., Sankoff, D. (1975). Longest common subsequences of two random sequences. J. Appl. Probab. 12(2), 306–315.</a:t>
            </a:r>
            <a:endParaRPr sz="1400">
              <a:solidFill>
                <a:srgbClr val="0F2C68"/>
              </a:solidFill>
            </a:endParaRPr>
          </a:p>
          <a:p>
            <a:pPr marL="457200" lvl="0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Char char="●"/>
              <a:defRPr/>
            </a:pPr>
            <a:r>
              <a:rPr lang="ru-RU" sz="1400">
                <a:solidFill>
                  <a:srgbClr val="0F2C68"/>
                </a:solidFill>
              </a:rPr>
              <a:t>Lueker, G. S. (2009). Improved bounds on the average length of longest common subsequences. J. ACM 56(3), 17:1–17:38.</a:t>
            </a:r>
            <a:endParaRPr sz="1400">
              <a:solidFill>
                <a:srgbClr val="0F2C68"/>
              </a:solidFill>
            </a:endParaRPr>
          </a:p>
          <a:p>
            <a:pPr marL="457200" lvl="0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Char char="●"/>
              <a:defRPr/>
            </a:pPr>
            <a:r>
              <a:rPr lang="ru-RU" sz="1400">
                <a:solidFill>
                  <a:srgbClr val="0F2C68"/>
                </a:solidFill>
              </a:rPr>
              <a:t>Heineman, G. T., Miller, C., Reichman, D., Salls, A., Sarkozy, G., Soiffer, D. (2024). Improved Lower Bounds on the Expected Length of Longest Common Subsequences. ArXiv:2407.10925</a:t>
            </a:r>
            <a:endParaRPr sz="1400">
              <a:solidFill>
                <a:srgbClr val="0F2C68"/>
              </a:solidFill>
            </a:endParaRPr>
          </a:p>
          <a:p>
            <a:pPr marL="457200" lvl="0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Char char="●"/>
              <a:defRPr/>
            </a:pPr>
            <a:r>
              <a:rPr lang="ru-RU" sz="1400">
                <a:solidFill>
                  <a:srgbClr val="0F2C68"/>
                </a:solidFill>
              </a:rPr>
              <a:t>Tiskin, A. (2023). Проблема Хватала–Санкоффа как задача символической динамики. Зап. научн. сем. ПОМИ 528, 214–237.</a:t>
            </a:r>
            <a:endParaRPr sz="1400">
              <a:solidFill>
                <a:srgbClr val="0F2C68"/>
              </a:solidFill>
            </a:endParaRPr>
          </a:p>
          <a:p>
            <a:pPr marL="457200" lvl="0" indent="-304799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Char char="●"/>
              <a:defRPr/>
            </a:pPr>
            <a:r>
              <a:rPr lang="ru-RU" sz="1400" b="0" i="0" u="none" strike="noStrike" cap="none" spc="0">
                <a:solidFill>
                  <a:srgbClr val="0F2C68"/>
                </a:solidFill>
                <a:latin typeface="Arial"/>
                <a:ea typeface="Arial"/>
                <a:cs typeface="Arial"/>
              </a:rPr>
              <a:t>Kiwi, M., Soto, J. (2009). On a Speculated Relation Between Chvatal-Sankoff Constants of Several Sequences.</a:t>
            </a:r>
            <a:br>
              <a:rPr lang="ru-RU" sz="1400">
                <a:solidFill>
                  <a:srgbClr val="0F2C68"/>
                </a:solidFill>
              </a:rPr>
            </a:br>
            <a:r>
              <a:rPr lang="ru-RU" sz="1400">
                <a:solidFill>
                  <a:srgbClr val="0F2C68"/>
                </a:solidFill>
              </a:rPr>
              <a:t> </a:t>
            </a:r>
            <a:endParaRPr sz="1400">
              <a:solidFill>
                <a:srgbClr val="0F2C68"/>
              </a:solidFill>
            </a:endParaRPr>
          </a:p>
          <a:p>
            <a:pPr lv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400">
              <a:solidFill>
                <a:srgbClr val="0F2C68"/>
              </a:solidFill>
            </a:endParaRPr>
          </a:p>
          <a:p>
            <a:pPr lv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400" b="0" i="0" u="none" strike="noStrike" cap="none" spc="0">
              <a:solidFill>
                <a:srgbClr val="0F2C68"/>
              </a:solidFill>
              <a:latin typeface="Arial"/>
              <a:ea typeface="Arial"/>
              <a:cs typeface="Arial"/>
            </a:endParaRPr>
          </a:p>
          <a:p>
            <a:pPr lv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0" u="none" strike="noStrike" cap="none" spc="0">
                <a:solidFill>
                  <a:srgbClr val="0F2C68"/>
                </a:solidFill>
                <a:latin typeface="Arial"/>
                <a:ea typeface="Arial"/>
                <a:cs typeface="Arial"/>
              </a:rPr>
              <a:t>Репозиторий исходного кода работы:</a:t>
            </a:r>
            <a:r>
              <a:rPr lang="en-US" sz="1400" b="0" i="0" u="none" strike="noStrike" cap="none" spc="0">
                <a:solidFill>
                  <a:srgbClr val="0F2C68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400" b="0" i="0" u="none" strike="noStrike" cap="none" spc="0">
                <a:solidFill>
                  <a:srgbClr val="0F2C68"/>
                </a:solidFill>
                <a:latin typeface="Arial"/>
                <a:ea typeface="Arial"/>
                <a:cs typeface="Arial"/>
              </a:rPr>
              <a:t>https://github.com/Youka4/HSEDiploma</a:t>
            </a:r>
            <a:endParaRPr sz="1400" b="0" i="0" u="none" strike="noStrike" cap="none" spc="0">
              <a:solidFill>
                <a:srgbClr val="0F2C68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endParaRPr sz="1400">
              <a:solidFill>
                <a:srgbClr val="0F2C68"/>
              </a:solidFill>
            </a:endParaRPr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None/>
              <a:defRPr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Р7-Офис/2024.4.2.691</Application>
  <DocSecurity>0</DocSecurity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>Dmitriy Yukachev</cp:lastModifiedBy>
  <cp:revision>3</cp:revision>
  <dcterms:modified xsi:type="dcterms:W3CDTF">2026-06-10T15:08:31Z</dcterms:modified>
  <cp:category/>
  <cp:contentStatus/>
  <cp:version/>
</cp:coreProperties>
</file>